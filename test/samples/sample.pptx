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600" b="0"/>
            </a:pPr>
            <a:r>
              <a:rPr lang="en-US" sz="1600" b="0"/>
              <a:t>Units sold per quarter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128</c:v>
                </c:pt>
                <c:pt idx="3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132</c:v>
                </c:pt>
                <c:pt idx="1">
                  <c:v>148</c:v>
                </c:pt>
                <c:pt idx="2">
                  <c:v>141</c:v>
                </c:pt>
                <c:pt idx="3">
                  <c:v>167</c:v>
                </c:pt>
              </c:numCache>
            </c:numRef>
          </c:val>
        </c:ser>
        <c:gapWidth val="150"/>
        <c:overlap val="-2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pPr>
            <a:endParaRPr lang="en-US"/>
          </a:p>
        </c:txPr>
        <c:crossAx val="500000001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 b="0">
              <a:solidFill>
                <a:schemeClr val="tx1">
                  <a:lumMod val="65000"/>
                  <a:lumOff val="35000"/>
                </a:schemeClr>
              </a:solidFill>
              <a:latin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lumMod val="65000"/>
              <a:lumOff val="35000"/>
            </a:schemeClr>
          </a:solidFill>
          <a:latin typeface="+mn-lt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/>
          <a:lstStyle/>
          <a:p>
            <a:pPr>
              <a:defRPr sz="1600" b="0"/>
            </a:pPr>
            <a:r>
              <a:rPr lang="en-US" sz="1600" b="0"/>
              <a:t>Sessions by device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sessions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</c:spPr>
          </c:dPt>
          <c:dPt>
            <c:idx val="3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</c:spPr>
          </c:dPt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38</c:v>
                </c:pt>
                <c:pt idx="2">
                  <c:v>12</c:v>
                </c:pt>
                <c:pt idx="3">
                  <c:v>4</c:v>
                </c:pt>
              </c:numCache>
            </c:numRef>
          </c:val>
        </c:ser>
        <c:firstSliceAng val="0"/>
      </c:pieChart>
    </c:plotArea>
    <c:legend>
      <c:legendPos val="b"/>
      <c:overlay val="0"/>
      <c:txPr>
        <a:bodyPr/>
        <a:lstStyle/>
        <a:p>
          <a:pPr>
            <a:defRPr sz="1200" b="0">
              <a:solidFill>
                <a:schemeClr val="tx1">
                  <a:lumMod val="65000"/>
                  <a:lumOff val="35000"/>
                </a:schemeClr>
              </a:solidFill>
              <a:latin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200" b="0">
          <a:solidFill>
            <a:schemeClr val="tx1">
              <a:lumMod val="65000"/>
              <a:lumOff val="35000"/>
            </a:schemeClr>
          </a:solidFill>
          <a:latin typeface="+mn-lt"/>
        </a:defRPr>
      </a:pPr>
      <a:endParaRPr lang="en-U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685800"/>
            <a:ext cx="5334000" cy="3000375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1148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the title slide. The viewer shows them in the notes pane.</a:t>
            </a:r>
            <a:endParaRPr lang="en-US" dirty="0"/>
          </a:p>
          <a:p>
            <a:r>
              <a:rPr lang="en-US" dirty="0"/>
              <a:t>Second paragraph with special characters: &lt;tag&gt; &amp; "quotes" — café.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Bullets use explicit a:buChar / a:buAutoNum paragraph properties at three levels.</a:t>
            </a:r>
            <a:endParaRPr lang="en-US" dirty="0"/>
          </a:p>
          <a:p>
            <a:r>
              <a:rPr lang="en-US" dirty="0"/>
              <a:t>The link opens through the extension (http, https and mailto only).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chart: clustered columns, 2 series over 4 quarters (cached values only, no embedded workbook).</a:t>
            </a:r>
            <a:endParaRPr lang="en-US" dirty="0"/>
          </a:p>
          <a:p>
            <a:r>
              <a:rPr lang="en-US" dirty="0"/>
              <a:t>Pie chart: one series with per-slice colors and percentage labels.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slide: a linear gradient background (45°, three stops) with white text on top.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6000" y="1397000"/>
            <a:ext cx="10160000" cy="21590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59200"/>
            <a:ext cx="9144000" cy="13970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7" name="Title Band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</p:sp>
      <p:sp>
        <p:nvSpPr>
          <p:cNvPr id="8" name="Title Band Edge"/>
          <p:cNvSpPr/>
          <p:nvPr/>
        </p:nvSpPr>
        <p:spPr>
          <a:xfrm>
            <a:off x="0" y="5638800"/>
            <a:ext cx="12192000" cy="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066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10972800" cy="4699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Accent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k Footer"/>
          <p:cNvSpPr txBox="1"/>
          <p:nvPr/>
        </p:nvSpPr>
        <p:spPr>
          <a:xfrm>
            <a:off x="609600" y="63754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 dirty="0">
                <a:solidFill>
                  <a:srgbClr val="7F7F7F"/>
                </a:solidFill>
              </a:rPr>
              <a:t>FileStudio sample deck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marL="0" indent="0" algn="l" defTabSz="914400" rtl="0" eaLnBrk="1" latinLnBrk="0" hangingPunct="1">
        <a:lnSpc>
          <a:spcPct val="90000"/>
        </a:lnSpc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indent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de.visualstudio.com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code.visualstudio.com/doc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FileStudio Sample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Hand-built PresentationML for the .pptx preview</a:t>
            </a:r>
            <a:endParaRPr lang="en-US" dirty="0"/>
          </a:p>
          <a:p>
            <a:r>
              <a:rPr lang="en-US" dirty="0"/>
              <a:t>Generated by </a:t>
            </a:r>
            <a:r>
              <a:rPr lang="en-US" dirty="0">
                <a:latin typeface="Consolas"/>
                <a:cs typeface="Consolas"/>
              </a:rPr>
              <a:t>test/generate-samples.js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Bullets and text formatting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/>
              <a:buChar char="•"/>
            </a:pPr>
            <a:r>
              <a:rPr lang="en-US" dirty="0"/>
              <a:t>First level with </a:t>
            </a:r>
            <a:r>
              <a:rPr lang="en-US" b="1" dirty="0"/>
              <a:t>bold</a:t>
            </a:r>
            <a:r>
              <a:rPr lang="en-US" dirty="0"/>
              <a:t>, </a:t>
            </a:r>
            <a:r>
              <a:rPr lang="en-US" i="1" dirty="0"/>
              <a:t>italic</a:t>
            </a:r>
            <a:r>
              <a:rPr lang="en-US" dirty="0"/>
              <a:t>, </a:t>
            </a:r>
            <a:r>
              <a:rPr lang="en-US" u="sng" dirty="0"/>
              <a:t>underlined</a:t>
            </a:r>
            <a:r>
              <a:rPr lang="en-US" dirty="0"/>
              <a:t>, </a:t>
            </a:r>
            <a:r>
              <a:rPr lang="en-US" strike="sngStrike" dirty="0"/>
              <a:t>struck-through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colored</a:t>
            </a:r>
            <a:r>
              <a:rPr lang="en-US" dirty="0"/>
              <a:t> text</a:t>
            </a:r>
            <a:endParaRPr lang="en-US" dirty="0"/>
          </a:p>
          <a:p>
            <a:pPr lvl="1">
              <a:buFont typeface="Arial" panose="020B0604020202020204"/>
              <a:buChar char="–"/>
            </a:pPr>
            <a:r>
              <a:rPr lang="en-US" dirty="0"/>
              <a:t>Second level bullet</a:t>
            </a:r>
            <a:endParaRPr lang="en-US" dirty="0"/>
          </a:p>
          <a:p>
            <a:pPr lvl="2">
              <a:buFont typeface="Arial" panose="020B0604020202020204"/>
              <a:buChar char="▪"/>
            </a:pPr>
            <a:r>
              <a:rPr lang="en-US" dirty="0"/>
              <a:t>Third level bullet</a:t>
            </a:r>
            <a:endParaRPr lang="en-US" dirty="0"/>
          </a:p>
          <a:p>
            <a:pPr>
              <a:buFont typeface="Arial" panose="020B0604020202020204"/>
              <a:buChar char="•"/>
            </a:pPr>
            <a:r>
              <a:rPr lang="en-US" dirty="0"/>
              <a:t>A hyperlink to </a:t>
            </a:r>
            <a:r>
              <a:rPr lang="en-US" dirty="0">
                <a:hlinkClick r:id="rId3"/>
              </a:rPr>
              <a:t>the Visual Studio Code website</a:t>
            </a:r>
            <a:r>
              <a:rPr lang="en-US" dirty="0"/>
              <a:t>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Numbered item one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Numbered item two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 bullet: café, naïve, 日本語, Ελληνικά, 🎉 · &lt;tag&gt; &amp; "quotes" · E = mc</a:t>
            </a:r>
            <a:r>
              <a:rPr lang="en-US" baseline="30000" dirty="0"/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Preset shapes, connectors and transforms</a:t>
            </a:r>
            <a:endParaRPr lang="en-US" dirty="0"/>
          </a:p>
        </p:txBody>
      </p:sp>
      <p:sp>
        <p:nvSpPr>
          <p:cNvPr id="10" name="Rectangle 10"/>
          <p:cNvSpPr/>
          <p:nvPr/>
        </p:nvSpPr>
        <p:spPr>
          <a:xfrm>
            <a:off x="762000" y="1574800"/>
            <a:ext cx="1524000" cy="1143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Rectangle</a:t>
            </a:r>
            <a:endParaRPr lang="en-US" dirty="0"/>
          </a:p>
        </p:txBody>
      </p:sp>
      <p:sp>
        <p:nvSpPr>
          <p:cNvPr id="11" name="Rounded rectangle 11"/>
          <p:cNvSpPr/>
          <p:nvPr/>
        </p:nvSpPr>
        <p:spPr>
          <a:xfrm>
            <a:off x="2590800" y="1574800"/>
            <a:ext cx="1524000" cy="1143000"/>
          </a:xfrm>
          <a:prstGeom prst="roundRect">
            <a:avLst/>
          </a:prstGeom>
          <a:solidFill>
            <a:schemeClr val="accent2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Rounded rectangle</a:t>
            </a:r>
            <a:endParaRPr lang="en-US" dirty="0"/>
          </a:p>
        </p:txBody>
      </p:sp>
      <p:sp>
        <p:nvSpPr>
          <p:cNvPr id="12" name="Ellipse 12"/>
          <p:cNvSpPr/>
          <p:nvPr/>
        </p:nvSpPr>
        <p:spPr>
          <a:xfrm>
            <a:off x="4419600" y="1574800"/>
            <a:ext cx="1524000" cy="11430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Ellipse</a:t>
            </a:r>
            <a:endParaRPr lang="en-US" dirty="0"/>
          </a:p>
        </p:txBody>
      </p:sp>
      <p:sp>
        <p:nvSpPr>
          <p:cNvPr id="13" name="Triangle 13"/>
          <p:cNvSpPr/>
          <p:nvPr/>
        </p:nvSpPr>
        <p:spPr>
          <a:xfrm>
            <a:off x="6248400" y="1574800"/>
            <a:ext cx="1524000" cy="1143000"/>
          </a:xfrm>
          <a:prstGeom prst="triangle">
            <a:avLst/>
          </a:prstGeom>
          <a:solidFill>
            <a:schemeClr val="accent4"/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Triangle</a:t>
            </a:r>
            <a:endParaRPr lang="en-US" dirty="0"/>
          </a:p>
        </p:txBody>
      </p:sp>
      <p:sp>
        <p:nvSpPr>
          <p:cNvPr id="14" name="Diamond 14"/>
          <p:cNvSpPr/>
          <p:nvPr/>
        </p:nvSpPr>
        <p:spPr>
          <a:xfrm>
            <a:off x="8077200" y="1574800"/>
            <a:ext cx="1524000" cy="1143000"/>
          </a:xfrm>
          <a:prstGeom prst="diamond">
            <a:avLst/>
          </a:prstGeom>
          <a:solidFill>
            <a:schemeClr val="accent6"/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Diamond</a:t>
            </a:r>
            <a:endParaRPr lang="en-US" dirty="0"/>
          </a:p>
        </p:txBody>
      </p:sp>
      <p:sp>
        <p:nvSpPr>
          <p:cNvPr id="15" name="Hexagon 15"/>
          <p:cNvSpPr/>
          <p:nvPr/>
        </p:nvSpPr>
        <p:spPr>
          <a:xfrm>
            <a:off x="9906000" y="1574800"/>
            <a:ext cx="1524000" cy="1143000"/>
          </a:xfrm>
          <a:prstGeom prst="hexagon">
            <a:avLst/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Hexagon</a:t>
            </a:r>
            <a:endParaRPr lang="en-US" dirty="0"/>
          </a:p>
        </p:txBody>
      </p:sp>
      <p:sp>
        <p:nvSpPr>
          <p:cNvPr id="16" name="Right arrow 16"/>
          <p:cNvSpPr/>
          <p:nvPr/>
        </p:nvSpPr>
        <p:spPr>
          <a:xfrm>
            <a:off x="762000" y="2997200"/>
            <a:ext cx="1524000" cy="11430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Right arrow</a:t>
            </a:r>
            <a:endParaRPr lang="en-US" dirty="0"/>
          </a:p>
        </p:txBody>
      </p:sp>
      <p:sp>
        <p:nvSpPr>
          <p:cNvPr id="17" name="Chevron 17"/>
          <p:cNvSpPr/>
          <p:nvPr/>
        </p:nvSpPr>
        <p:spPr>
          <a:xfrm>
            <a:off x="2590800" y="2997200"/>
            <a:ext cx="1524000" cy="114300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Chevron</a:t>
            </a:r>
            <a:endParaRPr lang="en-US" dirty="0"/>
          </a:p>
        </p:txBody>
      </p:sp>
      <p:sp>
        <p:nvSpPr>
          <p:cNvPr id="18" name="Star 18"/>
          <p:cNvSpPr/>
          <p:nvPr/>
        </p:nvSpPr>
        <p:spPr>
          <a:xfrm>
            <a:off x="4419600" y="2997200"/>
            <a:ext cx="1524000" cy="1143000"/>
          </a:xfrm>
          <a:prstGeom prst="star5">
            <a:avLst/>
          </a:prstGeom>
          <a:solidFill>
            <a:schemeClr val="accent4"/>
          </a:solidFill>
          <a:ln w="12700">
            <a:solidFill>
              <a:schemeClr val="accent4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Star</a:t>
            </a:r>
            <a:endParaRPr lang="en-US" dirty="0"/>
          </a:p>
        </p:txBody>
      </p:sp>
      <p:sp>
        <p:nvSpPr>
          <p:cNvPr id="19" name="Parallelogram 19"/>
          <p:cNvSpPr/>
          <p:nvPr/>
        </p:nvSpPr>
        <p:spPr>
          <a:xfrm>
            <a:off x="6248400" y="2997200"/>
            <a:ext cx="1524000" cy="1143000"/>
          </a:xfrm>
          <a:prstGeom prst="parallelogram">
            <a:avLst/>
          </a:prstGeom>
          <a:solidFill>
            <a:schemeClr val="accent5"/>
          </a:solidFill>
          <a:ln w="12700">
            <a:solidFill>
              <a:schemeClr val="accent5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Parallelogram</a:t>
            </a:r>
            <a:endParaRPr lang="en-US" dirty="0"/>
          </a:p>
        </p:txBody>
      </p:sp>
      <p:sp>
        <p:nvSpPr>
          <p:cNvPr id="20" name="Pentagon 20"/>
          <p:cNvSpPr/>
          <p:nvPr/>
        </p:nvSpPr>
        <p:spPr>
          <a:xfrm>
            <a:off x="8077200" y="2997200"/>
            <a:ext cx="1524000" cy="1143000"/>
          </a:xfrm>
          <a:prstGeom prst="homePlate">
            <a:avLst/>
          </a:prstGeom>
          <a:solidFill>
            <a:schemeClr val="accent6"/>
          </a:solidFill>
          <a:ln w="12700">
            <a:solidFill>
              <a:schemeClr val="accent6">
                <a:lumMod val="75000"/>
              </a:schemeClr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Pentagon</a:t>
            </a:r>
            <a:endParaRPr lang="en-US" dirty="0"/>
          </a:p>
        </p:txBody>
      </p:sp>
      <p:sp>
        <p:nvSpPr>
          <p:cNvPr id="21" name="Callout 21"/>
          <p:cNvSpPr/>
          <p:nvPr/>
        </p:nvSpPr>
        <p:spPr>
          <a:xfrm>
            <a:off x="9906000" y="2997200"/>
            <a:ext cx="1524000" cy="1143000"/>
          </a:xfrm>
          <a:prstGeom prst="wedgeRectCallout">
            <a:avLst/>
          </a:prstGeom>
          <a:pattFill prst="ltUpDiag">
            <a:fgClr>
              <a:schemeClr val="accent1"/>
            </a:fgClr>
            <a:bgClr>
              <a:srgbClr val="FFFFFF"/>
            </a:bgClr>
          </a:pattFill>
          <a:ln w="127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1F3864"/>
                </a:solidFill>
              </a:rPr>
              <a:t>Callout</a:t>
            </a:r>
            <a:endParaRPr lang="en-US" dirty="0"/>
          </a:p>
        </p:txBody>
      </p:sp>
      <p:cxnSp>
        <p:nvCxnSpPr>
          <p:cNvPr id="30" name="Straight Arrow Connector 30"/>
          <p:cNvCxnSpPr/>
          <p:nvPr/>
        </p:nvCxnSpPr>
        <p:spPr>
          <a:xfrm>
            <a:off x="762000" y="4597400"/>
            <a:ext cx="1524000" cy="838200"/>
          </a:xfrm>
          <a:prstGeom prst="straightConnector1">
            <a:avLst/>
          </a:prstGeom>
          <a:ln w="25400">
            <a:solidFill>
              <a:schemeClr val="accent1"/>
            </a:solidFill>
            <a:headEnd type="oval" w="med" len="med"/>
            <a:tailEnd type="triangle" w="med" len="med"/>
          </a:ln>
        </p:spPr>
      </p:cxnSp>
      <p:cxnSp>
        <p:nvCxnSpPr>
          <p:cNvPr id="31" name="Elbow Connector 31"/>
          <p:cNvCxnSpPr/>
          <p:nvPr/>
        </p:nvCxnSpPr>
        <p:spPr>
          <a:xfrm>
            <a:off x="2590800" y="4597400"/>
            <a:ext cx="1524000" cy="838200"/>
          </a:xfrm>
          <a:prstGeom prst="bentConnector3">
            <a:avLst/>
          </a:prstGeom>
          <a:ln w="25400">
            <a:solidFill>
              <a:schemeClr val="accent2"/>
            </a:solidFill>
            <a:prstDash val="dash"/>
            <a:tailEnd type="arrow" w="med" len="med"/>
          </a:ln>
        </p:spPr>
      </p:cxnSp>
      <p:sp>
        <p:nvSpPr>
          <p:cNvPr id="32" name="Freeform 32"/>
          <p:cNvSpPr/>
          <p:nvPr/>
        </p:nvSpPr>
        <p:spPr>
          <a:xfrm>
            <a:off x="4419600" y="4445000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524000" h="1143000">
                <a:moveTo>
                  <a:pt x="0" y="317500"/>
                </a:moveTo>
                <a:cubicBezTo>
                  <a:pt x="381000" y="0"/>
                  <a:pt x="1143000" y="635000"/>
                  <a:pt x="1524000" y="317500"/>
                </a:cubicBezTo>
                <a:lnTo>
                  <a:pt x="1524000" y="825500"/>
                </a:lnTo>
                <a:cubicBezTo>
                  <a:pt x="1143000" y="1143000"/>
                  <a:pt x="381000" y="508000"/>
                  <a:pt x="0" y="825500"/>
                </a:cubicBezTo>
                <a:close/>
              </a:path>
            </a:pathLst>
          </a:custGeom>
          <a:solidFill>
            <a:schemeClr val="accent5"/>
          </a:solidFill>
          <a:ln w="12700">
            <a:solidFill>
              <a:srgbClr val="1F3864"/>
            </a:solidFill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Freeform</a:t>
            </a:r>
            <a:endParaRPr lang="en-US" dirty="0"/>
          </a:p>
        </p:txBody>
      </p:sp>
      <p:sp>
        <p:nvSpPr>
          <p:cNvPr id="33" name="Rotated Rectangle 33"/>
          <p:cNvSpPr/>
          <p:nvPr/>
        </p:nvSpPr>
        <p:spPr>
          <a:xfrm rot="1800000">
            <a:off x="6248400" y="4508500"/>
            <a:ext cx="1524000" cy="1016000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C55A11"/>
                </a:solidFill>
              </a:rPr>
              <a:t>Rotated 30°</a:t>
            </a:r>
            <a:endParaRPr lang="en-US" dirty="0"/>
          </a:p>
        </p:txBody>
      </p:sp>
      <p:sp>
        <p:nvSpPr>
          <p:cNvPr id="34" name="Flipped Triangle 34"/>
          <p:cNvSpPr/>
          <p:nvPr/>
        </p:nvSpPr>
        <p:spPr>
          <a:xfrm flipH="1">
            <a:off x="8077200" y="4445000"/>
            <a:ext cx="1524000" cy="11430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Flipped</a:t>
            </a:r>
            <a:endParaRPr lang="en-US" dirty="0"/>
          </a:p>
        </p:txBody>
      </p:sp>
      <p:sp>
        <p:nvSpPr>
          <p:cNvPr id="35" name="Gradient Shape 35"/>
          <p:cNvSpPr/>
          <p:nvPr/>
        </p:nvSpPr>
        <p:spPr>
          <a:xfrm>
            <a:off x="9906000" y="4445000"/>
            <a:ext cx="1524000" cy="1143000"/>
          </a:xfrm>
          <a:prstGeom prst="roundRect">
            <a:avLst/>
          </a:prstGeom>
          <a:gradFill rotWithShape="1">
            <a:gsLst>
              <a:gs pos="0">
                <a:srgbClr val="FFC000"/>
              </a:gs>
              <a:gs pos="100000">
                <a:srgbClr val="ED7D31"/>
              </a:gs>
            </a:gsLst>
            <a:lin ang="5400000" scaled="0"/>
          </a:gradFill>
          <a:ln>
            <a:noFill/>
          </a:ln>
        </p:spPr>
        <p:txBody>
          <a:bodyPr lIns="50800" tIns="50800" rIns="50800" bIns="5080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Gradient</a:t>
            </a:r>
            <a:endParaRPr lang="en-US" dirty="0"/>
          </a:p>
        </p:txBody>
      </p:sp>
      <p:sp>
        <p:nvSpPr>
          <p:cNvPr id="36" name="Caption 36"/>
          <p:cNvSpPr txBox="1"/>
          <p:nvPr/>
        </p:nvSpPr>
        <p:spPr>
          <a:xfrm>
            <a:off x="762000" y="5689600"/>
            <a:ext cx="10668000" cy="381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400" dirty="0">
                <a:solidFill>
                  <a:srgbClr val="595959"/>
                </a:solidFill>
              </a:rPr>
              <a:t>Connectors with line ends, a freeform path, rotation, a horizontal flip, a gradient and a pattern fill.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Group, pictures and a linked shape</a:t>
            </a:r>
            <a:endParaRPr lang="en-US" dirty="0"/>
          </a:p>
        </p:txBody>
      </p:sp>
      <p:grpSp>
        <p:nvGrpSpPr>
          <p:cNvPr id="10" name="Group 10"/>
          <p:cNvGrpSpPr/>
          <p:nvPr/>
        </p:nvGrpSpPr>
        <p:grpSpPr>
          <a:xfrm>
            <a:off x="762000" y="1651000"/>
            <a:ext cx="4572000" cy="2794000"/>
            <a:chOff x="0" y="0"/>
            <a:chExt cx="9144000" cy="5588000"/>
          </a:xfrm>
        </p:grpSpPr>
        <p:sp>
          <p:nvSpPr>
            <p:cNvPr id="11" name="Group Frame 11"/>
            <p:cNvSpPr/>
            <p:nvPr/>
          </p:nvSpPr>
          <p:spPr>
            <a:xfrm>
              <a:off x="0" y="0"/>
              <a:ext cx="9144000" cy="5588000"/>
            </a:xfrm>
            <a:prstGeom prst="roundRect">
              <a:avLst/>
            </a:prstGeom>
            <a:solidFill>
              <a:srgbClr val="F2F2F2"/>
            </a:solidFill>
            <a:ln w="12700">
              <a:solidFill>
                <a:srgbClr val="A5A5A5"/>
              </a:solidFill>
            </a:ln>
          </p:spPr>
        </p:sp>
        <p:sp>
          <p:nvSpPr>
            <p:cNvPr id="12" name="Oval 12"/>
            <p:cNvSpPr/>
            <p:nvPr/>
          </p:nvSpPr>
          <p:spPr>
            <a:xfrm>
              <a:off x="508000" y="508000"/>
              <a:ext cx="2540000" cy="2540000"/>
            </a:xfrm>
            <a:prstGeom prst="ellipse">
              <a:avLst/>
            </a:prstGeom>
            <a:solidFill>
              <a:schemeClr val="accent1"/>
            </a:solidFill>
          </p:spPr>
          <p:txBody>
            <a:bodyPr lIns="50800" tIns="50800" rIns="50800" bIns="50800" anchor="ctr"/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</a:rPr>
                <a:t>A</a:t>
              </a:r>
              <a:endParaRPr lang="en-US" dirty="0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02000" y="508000"/>
              <a:ext cx="2540000" cy="2540000"/>
            </a:xfrm>
            <a:prstGeom prst="rect">
              <a:avLst/>
            </a:prstGeom>
            <a:solidFill>
              <a:schemeClr val="accent2"/>
            </a:solidFill>
          </p:spPr>
          <p:txBody>
            <a:bodyPr lIns="50800" tIns="50800" rIns="50800" bIns="50800" anchor="ctr"/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</a:rPr>
                <a:t>B</a:t>
              </a:r>
              <a:endParaRPr lang="en-US" dirty="0"/>
            </a:p>
          </p:txBody>
        </p:sp>
        <p:sp>
          <p:nvSpPr>
            <p:cNvPr id="14" name="Triangle 14"/>
            <p:cNvSpPr/>
            <p:nvPr/>
          </p:nvSpPr>
          <p:spPr>
            <a:xfrm>
              <a:off x="6096000" y="508000"/>
              <a:ext cx="2540000" cy="2540000"/>
            </a:xfrm>
            <a:prstGeom prst="triangle">
              <a:avLst/>
            </a:prstGeom>
            <a:solidFill>
              <a:schemeClr val="accent6"/>
            </a:solidFill>
          </p:spPr>
          <p:txBody>
            <a:bodyPr lIns="50800" tIns="50800" rIns="50800" bIns="50800" anchor="ctr"/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</a:rPr>
                <a:t>C</a:t>
              </a:r>
              <a:endParaRPr lang="en-US" dirty="0"/>
            </a:p>
          </p:txBody>
        </p:sp>
        <p:sp>
          <p:nvSpPr>
            <p:cNvPr id="15" name="Group Text 15"/>
            <p:cNvSpPr txBox="1"/>
            <p:nvPr/>
          </p:nvSpPr>
          <p:spPr>
            <a:xfrm>
              <a:off x="508000" y="3556000"/>
              <a:ext cx="8128000" cy="1524000"/>
            </a:xfrm>
            <a:prstGeom prst="rect">
              <a:avLst/>
            </a:prstGeom>
            <a:noFill/>
          </p:spPr>
          <p:txBody>
            <a:bodyPr wrap="square" anchor="ctr"/>
            <a:lstStyle/>
            <a:p>
              <a:pPr algn="ctr"/>
              <a:r>
                <a:rPr lang="en-US" sz="1400" dirty="0">
                  <a:solidFill>
                    <a:srgbClr val="404040"/>
                  </a:solidFill>
                </a:rPr>
                <a:t>Three shapes and a text box in one group</a:t>
              </a:r>
              <a:endParaRPr lang="en-US" dirty="0"/>
            </a:p>
          </p:txBody>
        </p:sp>
      </p:grpSp>
      <p:sp>
        <p:nvSpPr>
          <p:cNvPr id="16" name="Caption 16"/>
          <p:cNvSpPr txBox="1"/>
          <p:nvPr/>
        </p:nvSpPr>
        <p:spPr>
          <a:xfrm>
            <a:off x="762000" y="4521200"/>
            <a:ext cx="4572000" cy="330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200" dirty="0">
                <a:solidFill>
                  <a:srgbClr val="595959"/>
                </a:solidFill>
              </a:rPr>
              <a:t>Group: child space 720 × 440 pt shown at 50 %</a:t>
            </a:r>
            <a:endParaRPr lang="en-US" dirty="0"/>
          </a:p>
        </p:txBody>
      </p:sp>
      <p:pic>
        <p:nvPicPr>
          <p:cNvPr id="20" name="Picture 20" descr="Gradient picture (opaque PNG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51000"/>
            <a:ext cx="3048000" cy="2032000"/>
          </a:xfrm>
          <a:prstGeom prst="rect">
            <a:avLst/>
          </a:prstGeom>
          <a:ln w="12700">
            <a:solidFill>
              <a:srgbClr val="A5A5A5"/>
            </a:solidFill>
          </a:ln>
        </p:spPr>
      </p:pic>
      <p:pic>
        <p:nvPicPr>
          <p:cNvPr id="21" name="Picture 21" descr="Badge (PNG with transparency), rotated 15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0">
            <a:off x="9753600" y="1905000"/>
            <a:ext cx="1219200" cy="1219200"/>
          </a:xfrm>
          <a:prstGeom prst="rect">
            <a:avLst/>
          </a:prstGeom>
        </p:spPr>
      </p:pic>
      <p:sp>
        <p:nvSpPr>
          <p:cNvPr id="22" name="Caption 22"/>
          <p:cNvSpPr txBox="1"/>
          <p:nvPr/>
        </p:nvSpPr>
        <p:spPr>
          <a:xfrm>
            <a:off x="6096000" y="3759200"/>
            <a:ext cx="5334000" cy="330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200" dirty="0">
                <a:solidFill>
                  <a:srgbClr val="595959"/>
                </a:solidFill>
              </a:rPr>
              <a:t>Pictures: an opaque gradient and a rotated transparent badge</a:t>
            </a:r>
            <a:endParaRPr lang="en-US" dirty="0"/>
          </a:p>
        </p:txBody>
      </p:sp>
      <p:sp>
        <p:nvSpPr>
          <p:cNvPr id="23" name="Link Button 23">
            <a:hlinkClick r:id="rId4"/>
          </p:cNvPr>
          <p:cNvSpPr/>
          <p:nvPr/>
        </p:nvSpPr>
        <p:spPr>
          <a:xfrm>
            <a:off x="6096000" y="4318000"/>
            <a:ext cx="3302000" cy="609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lIns="50800" tIns="50800" rIns="50800" bIns="5080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Open the VS Code docs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with merged cells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143000" y="1651000"/>
          <a:ext cx="9906000" cy="3022600"/>
        </p:xfrm>
        <a:graphic>
          <a:graphicData uri="http://schemas.openxmlformats.org/drawingml/2006/table">
            <a:tbl>
              <a:tblPr firstRow="1" bandRow="1"/>
              <a:tblGrid>
                <a:gridCol w="3048000"/>
                <a:gridCol w="2286000"/>
                <a:gridCol w="2286000"/>
                <a:gridCol w="2286000"/>
              </a:tblGrid>
              <a:tr h="4318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Units sold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4318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H1 2024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H2 2024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North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1,204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1,310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2,514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South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986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1,042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2,028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East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1,433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1,502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2,935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West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877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951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1,828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All regions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4,500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4,805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9,305</a:t>
                      </a:r>
                      <a:endParaRPr lang="en-US" dirty="0"/>
                    </a:p>
                  </a:txBody>
                  <a:tcPr marL="88900" marR="88900" anchor="ctr">
                    <a:lnL w="12700" cap="flat" cmpd="sng" algn="ctr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</a:lnT>
                    <a:lnB w="12700" cap="flat" cmpd="sng" algn="ctr">
                      <a:solidFill>
                        <a:srgbClr val="BFBFBF"/>
                      </a:solidFill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1" name="Caption 11"/>
          <p:cNvSpPr txBox="1"/>
          <p:nvPr/>
        </p:nvSpPr>
        <p:spPr>
          <a:xfrm>
            <a:off x="1143000" y="4953000"/>
            <a:ext cx="9906000" cy="508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1400" dirty="0">
                <a:solidFill>
                  <a:srgbClr val="595959"/>
                </a:solidFill>
              </a:rPr>
              <a:t>"Units sold" spans two columns; "Region" and "Total" span two header rows.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Charts</a:t>
            </a:r>
            <a:endParaRPr lang="en-US" dirty="0"/>
          </a:p>
        </p:txBody>
      </p:sp>
      <p:graphicFrame>
        <p:nvGraphicFramePr>
          <p:cNvPr id="10" name="Bar Chart 10"/>
          <p:cNvGraphicFramePr/>
          <p:nvPr/>
        </p:nvGraphicFramePr>
        <p:xfrm>
          <a:off x="508000" y="1473200"/>
          <a:ext cx="5588000" cy="4775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Pie Chart 11"/>
          <p:cNvGraphicFramePr/>
          <p:nvPr/>
        </p:nvGraphicFramePr>
        <p:xfrm>
          <a:off x="6350000" y="1473200"/>
          <a:ext cx="5334000" cy="4775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/>
              <a:buChar char="•"/>
            </a:pPr>
            <a:r>
              <a:rPr lang="en-US" dirty="0"/>
              <a:t>This slide has show="0": PowerPoint skips it in a slide show.</a:t>
            </a:r>
            <a:endParaRPr lang="en-US" dirty="0"/>
          </a:p>
          <a:p>
            <a:pPr>
              <a:buFont typeface="Arial" panose="020B0604020202020204"/>
              <a:buChar char="•"/>
            </a:pPr>
            <a:r>
              <a:rPr lang="en-US" dirty="0"/>
              <a:t>The viewer still lists it, marked as hidden.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3864"/>
            </a:gs>
            <a:gs pos="55000">
              <a:srgbClr val="4472C4"/>
            </a:gs>
            <a:gs pos="100000">
              <a:srgbClr val="9DC3E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Gradient background</a:t>
            </a:r>
            <a:endParaRPr lang="en-US" dirty="0"/>
          </a:p>
        </p:txBody>
      </p:sp>
      <p:sp>
        <p:nvSpPr>
          <p:cNvPr id="10" name="Closing Text 10"/>
          <p:cNvSpPr txBox="1"/>
          <p:nvPr/>
        </p:nvSpPr>
        <p:spPr>
          <a:xfrm>
            <a:off x="1524000" y="2413000"/>
            <a:ext cx="9144000" cy="2032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dirty="0"/>
          </a:p>
          <a:p>
            <a:pPr algn="ctr"/>
            <a:r>
              <a:rPr lang="en-US" sz="1800" dirty="0">
                <a:solidFill>
                  <a:srgbClr val="FFFFFF"/>
                </a:solidFill>
              </a:rPr>
              <a:t>Background: linear gradient, three stops, 45°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FileStudio sample generator</Application>
  <PresentationFormat>Widescreen</PresentationFormat>
  <Slides>8</Slides>
  <Notes>4</Notes>
  <HiddenSlides>1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FileStudio Sample Presentation</dc:title>
  <dc:subject>Hand-built PresentationML used to test the .pptx preview</dc:subject>
  <dc:creator>FileStudio sample generator</dc:creator>
  <cp:keywords>file-viewer, sample, pptx</cp:keywords>
  <cp:lastModifiedBy>FileStudio sample generator</cp:lastModifiedBy>
  <cp:revision>1</cp:revision>
  <dcterms:created xsi:type="dcterms:W3CDTF">2024-01-15T09:30:00Z</dcterms:created>
  <dcterms:modified xsi:type="dcterms:W3CDTF">2024-01-15T09:30:00Z</dcterms:modified>
</cp:coreProperties>
</file>