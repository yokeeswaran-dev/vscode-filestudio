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142535752" r:id="rId5"/>
    <p:sldId id="2142535754" r:id="rId6"/>
    <p:sldId id="11829289" r:id="rId7"/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14A77E-9515-852F-34D8-D14643023F5E}" v="1" dt="2026-10-06T10:40:54.426"/>
    <p1510:client id="{577287EE-40B9-95E9-93B3-C6F0B83DA87B}" v="33" dt="2026-10-06T11:35:24.8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E47B8B-2492-457F-9DBE-2F8837FCEAFB}" type="datetimeFigureOut">
              <a:t>10/6/2026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00DD2B-E229-4D9C-9FF0-DFDDA0FDB96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5845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E29D30BB-9FC6-8438-F7EB-7ED3D476C40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1A51FE3-25B5-4D7A-9692-997FE635FA8C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2289" name="Rectangle 1">
            <a:extLst>
              <a:ext uri="{FF2B5EF4-FFF2-40B4-BE49-F238E27FC236}">
                <a16:creationId xmlns:a16="http://schemas.microsoft.com/office/drawing/2014/main" id="{F83732DD-ADBE-0343-8E30-4DD4D36939DD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D2DAB96F-178A-1473-D6E3-ACDA2B4B81E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2526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25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5043"/>
            <a:ext cx="84000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alatino Linotype"/>
              </a:rPr>
              <a:t>Performance Optimization Report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2289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B7D4CF"/>
                </a:solidFill>
                <a:latin typeface="Palatino Linotype"/>
              </a:rPr>
              <a:t>N-round trip issue w/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82880"/>
            <a:ext cx="1554480" cy="411480"/>
          </a:xfrm>
          <a:prstGeom prst="rect">
            <a:avLst/>
          </a:prstGeom>
          <a:solidFill>
            <a:srgbClr val="13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0" y="219343"/>
            <a:ext cx="155448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alatino Linotype"/>
              </a:rPr>
              <a:t>Fix 8.1</a:t>
            </a:r>
          </a:p>
          <a:p>
            <a:pPr algn="ctr"/>
            <a:r>
              <a:rPr lang="en-IN" sz="1100" b="1">
                <a:solidFill>
                  <a:srgbClr val="FFFFFF"/>
                </a:solidFill>
                <a:latin typeface="Palatino Linotype"/>
              </a:rPr>
              <a:t>Compass Middleware</a:t>
            </a:r>
            <a:endParaRPr sz="1100" b="1" i="0">
              <a:solidFill>
                <a:srgbClr val="FFFFFF"/>
              </a:solidFill>
              <a:latin typeface="Palatino Linotype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5166360" cy="274320"/>
          </a:xfrm>
          <a:prstGeom prst="rect">
            <a:avLst/>
          </a:prstGeom>
          <a:solidFill>
            <a:srgbClr val="13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" y="914400"/>
            <a:ext cx="4946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alatino Linotype"/>
              </a:rPr>
              <a:t>Classic Approach — JMeter Load Testing (17 Endpoints)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914400"/>
            <a:ext cx="5166360" cy="274320"/>
          </a:xfrm>
          <a:prstGeom prst="rect">
            <a:avLst/>
          </a:prstGeom>
          <a:solidFill>
            <a:srgbClr val="13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27648" y="914400"/>
            <a:ext cx="4946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alatino Linotype"/>
              </a:rPr>
              <a:t>Non-Classic Approach — Developer Profiling (17 Endpoints)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53328" y="914400"/>
            <a:ext cx="18288" cy="4571680"/>
          </a:xfrm>
          <a:prstGeom prst="rect">
            <a:avLst/>
          </a:prstGeom>
          <a:solidFill>
            <a:srgbClr val="B8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00040" y="1219200"/>
            <a:ext cx="1743180" cy="192024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73192" y="1219200"/>
            <a:ext cx="1670028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BEFORE Optimization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3220" y="1219200"/>
            <a:ext cx="1743180" cy="19202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16372" y="1219200"/>
            <a:ext cx="1670028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AFTER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1354696"/>
            <a:ext cx="3200000" cy="1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44546A"/>
                </a:solidFill>
                <a:latin typeface="Calibri"/>
              </a:rPr>
              <a:t>1 User &amp; 5 Concurrent Users (ms)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512696"/>
            <a:ext cx="5166360" cy="109728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" y="1512696"/>
            <a:ext cx="134085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9184" y="1512696"/>
            <a:ext cx="32085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0040" y="1512696"/>
            <a:ext cx="435795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Avg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5835" y="1512696"/>
            <a:ext cx="435795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71630" y="1512696"/>
            <a:ext cx="435795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07425" y="1512696"/>
            <a:ext cx="435795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Err%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3220" y="1512696"/>
            <a:ext cx="435795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Avg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79015" y="1512696"/>
            <a:ext cx="435795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P95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4810" y="1512696"/>
            <a:ext cx="435795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Max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50605" y="1512696"/>
            <a:ext cx="435795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Err%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1622424"/>
            <a:ext cx="5166360" cy="101881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9184" y="1622424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01 Design – Single add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79184" y="1622424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00040" y="162242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5835" y="162242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970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71630" y="162242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2,149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7425" y="162242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3220" y="162242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431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79015" y="162242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712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4810" y="162242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3,508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50605" y="162242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1724305"/>
            <a:ext cx="5166360" cy="101881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9184" y="1724305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679184" y="1724305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00040" y="172430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454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35835" y="172430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921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71630" y="172430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2,146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07425" y="172430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0.03%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3220" y="172430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456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79015" y="172430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871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4810" y="172430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3,979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50605" y="172430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0.00%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1826186"/>
            <a:ext cx="5166360" cy="101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29184" y="1826186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02 Design – 5 add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79184" y="1826186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00040" y="182618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822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35835" y="182618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3,903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71630" y="182618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4,917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07425" y="182618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43220" y="182618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79015" y="182618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522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14810" y="182618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879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50605" y="182618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1928067"/>
            <a:ext cx="5166360" cy="101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29184" y="1928067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679184" y="1928067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00040" y="192806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590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35835" y="192806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994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71630" y="192806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4,175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07425" y="192806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0.02%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43220" y="192806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420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79015" y="192806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759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14810" y="192806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3,941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50605" y="192806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0.00%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2029948"/>
            <a:ext cx="5166360" cy="101881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29184" y="2029948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03 Design – 10 add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79184" y="2029948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00040" y="202994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940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435835" y="202994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3,954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71630" y="202994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5,735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07425" y="202994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43220" y="202994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447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79015" y="202994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610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14810" y="202994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4,091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50605" y="202994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" y="2131829"/>
            <a:ext cx="5166360" cy="101881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29184" y="2131829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679184" y="2131829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00040" y="213182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792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435835" y="213182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1,243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871630" y="213182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4,550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07425" y="213182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0.04%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43220" y="213182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413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79015" y="213182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713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14810" y="213182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1,907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50605" y="213182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0.00%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0040" y="2233710"/>
            <a:ext cx="5166360" cy="101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29184" y="2233710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04 Design – Single remove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79184" y="2233710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00040" y="223371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361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435835" y="223371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700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71630" y="223371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2,558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307425" y="223371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43220" y="223371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314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179015" y="223371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386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614810" y="223371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853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50605" y="223371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20040" y="2335591"/>
            <a:ext cx="5166360" cy="101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29184" y="2335591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679184" y="2335591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00040" y="233559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376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435835" y="233559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737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871630" y="233559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4,210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307425" y="233559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0.00%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43220" y="233559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345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179015" y="233559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697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614810" y="233559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2,106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050605" y="233559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0.00%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20040" y="2437472"/>
            <a:ext cx="5166360" cy="101881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329184" y="2437472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05 Design – 5 remove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679184" y="2437472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000040" y="243747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589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435835" y="243747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2,847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871630" y="243747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4,009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07425" y="243747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743220" y="243747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304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179015" y="243747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370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614810" y="243747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815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050605" y="243747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20040" y="2539353"/>
            <a:ext cx="5166360" cy="101881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329184" y="2539353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1679184" y="2539353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000040" y="253935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437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435835" y="253935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844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871630" y="253935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4,629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07425" y="253935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0.00%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743220" y="253935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363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179015" y="253935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668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614810" y="253935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2,308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050605" y="253935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0.00%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20040" y="2641234"/>
            <a:ext cx="5166360" cy="101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329184" y="2641234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06 Design – Add+Remove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679184" y="2641234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000040" y="264123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462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435835" y="264123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1,357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871630" y="264123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1,939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307425" y="264123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743220" y="264123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360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179015" y="264123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509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614810" y="264123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948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050605" y="264123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20040" y="2743115"/>
            <a:ext cx="5166360" cy="101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29184" y="2743115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1679184" y="2743115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5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000040" y="274311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480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435835" y="274311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888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871630" y="274311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4,211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307425" y="274311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0.00%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743220" y="274311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407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179015" y="274311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730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614810" y="274311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1,345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050605" y="274311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0.00%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20040" y="2844996"/>
            <a:ext cx="5166360" cy="101881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329184" y="2844996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07 Design – Re-add (idem)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679184" y="2844996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1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000040" y="284499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363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435835" y="284499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522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871630" y="284499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1,660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307425" y="284499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743220" y="284499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351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179015" y="284499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513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614810" y="284499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1,013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050605" y="284499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20040" y="2946877"/>
            <a:ext cx="5166360" cy="101881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329184" y="2946877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1679184" y="2946877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5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000040" y="294687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464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435835" y="294687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849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871630" y="294687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4,021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307425" y="294687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0.00%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743220" y="294687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395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179015" y="294687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824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614810" y="294687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2,967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050605" y="294687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0.00%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20040" y="3048758"/>
            <a:ext cx="5166360" cy="101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329184" y="3048758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08 Design – Remove n/a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679184" y="3048758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1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000040" y="304875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378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435835" y="304875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587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871630" y="304875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4,199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307425" y="304875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743220" y="304875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368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179015" y="304875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408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614810" y="304875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3,278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050605" y="304875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320040" y="3150639"/>
            <a:ext cx="5166360" cy="101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329184" y="3150639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1679184" y="3150639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5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000040" y="315063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391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435835" y="315063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761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871630" y="315063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3,687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307425" y="315063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0.00%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743220" y="315063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351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179015" y="315063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553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614810" y="315063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2,324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050605" y="315063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0.00%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320040" y="3252520"/>
            <a:ext cx="5166360" cy="101881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329184" y="3252520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09 Wellbore – Single add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679184" y="3252520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1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2000040" y="325252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489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2435835" y="325252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840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2871630" y="325252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7,784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3307425" y="325252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743220" y="325252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345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179015" y="325252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406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614810" y="325252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1,818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050605" y="325252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20040" y="3354401"/>
            <a:ext cx="5166360" cy="101881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329184" y="3354401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1679184" y="3354401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5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000040" y="335440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417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2435835" y="335440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802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2871630" y="335440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3,983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307425" y="335440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0.00%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3743220" y="335440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395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179015" y="335440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725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4614810" y="335440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1,089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050605" y="335440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0.00%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320040" y="3456282"/>
            <a:ext cx="5166360" cy="101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329184" y="3456282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10 Wellbore – 3 add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679184" y="3456282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1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2000040" y="345628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434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2435835" y="345628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1,345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2871630" y="345628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2,907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3307425" y="345628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743220" y="345628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334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79015" y="345628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506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4614810" y="345628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1,041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5050605" y="345628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320040" y="3558163"/>
            <a:ext cx="5166360" cy="101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329184" y="3558163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1679184" y="3558163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5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2000040" y="355816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470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435835" y="355816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814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871630" y="355816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5,423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3307425" y="355816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0.00%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3743220" y="355816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383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4179015" y="355816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665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4614810" y="355816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3,142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050605" y="355816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0.00%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320040" y="3660044"/>
            <a:ext cx="5166360" cy="101881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329184" y="3660044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11 Wellbore – Single remove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679184" y="3660044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1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2000040" y="366004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403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2435835" y="366004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1,254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2871630" y="366004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2,788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3307425" y="366004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743220" y="366004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318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179015" y="366004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457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4614810" y="366004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507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050605" y="366004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320040" y="3761925"/>
            <a:ext cx="5166360" cy="101881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329184" y="3761925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1679184" y="3761925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5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000040" y="376192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411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435835" y="376192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757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2871630" y="376192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3,596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3307425" y="376192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0.00%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3743220" y="376192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363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4179015" y="376192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668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614810" y="376192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1,093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050605" y="376192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0.00%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320040" y="3863806"/>
            <a:ext cx="5166360" cy="101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329184" y="3863806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12 Well – Single add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1679184" y="3863806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1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2000040" y="386380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534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2435835" y="386380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2,274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2871630" y="386380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4,906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3307425" y="386380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3743220" y="386380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315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4179015" y="386380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408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4614810" y="386380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482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5050605" y="386380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320040" y="3965687"/>
            <a:ext cx="5166360" cy="101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281"/>
          <p:cNvSpPr txBox="1"/>
          <p:nvPr/>
        </p:nvSpPr>
        <p:spPr>
          <a:xfrm>
            <a:off x="329184" y="3965687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1679184" y="3965687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5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2000040" y="396568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425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2435835" y="396568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790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2871630" y="396568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5,269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3307425" y="396568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0.03%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3743220" y="396568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370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179015" y="396568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567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4614810" y="396568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1,472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050605" y="396568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0.00%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320040" y="4067568"/>
            <a:ext cx="5166360" cy="101881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329184" y="4067568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13 Well – 3 add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679184" y="4067568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1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2000040" y="406756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390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2435835" y="406756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684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2871630" y="406756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2,215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3307425" y="406756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3743220" y="406756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331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4179015" y="406756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432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4614810" y="406756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1,256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5050605" y="4067568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320040" y="4169449"/>
            <a:ext cx="5166360" cy="101881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TextBox 303"/>
          <p:cNvSpPr txBox="1"/>
          <p:nvPr/>
        </p:nvSpPr>
        <p:spPr>
          <a:xfrm>
            <a:off x="329184" y="4169449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1679184" y="4169449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5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2000040" y="416944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455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2435835" y="416944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1,015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2871630" y="416944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3,496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3307425" y="416944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0.00%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3743220" y="416944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374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4179015" y="416944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623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4614810" y="416944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3,919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5050605" y="4169449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0.00%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320040" y="4271330"/>
            <a:ext cx="5166360" cy="101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329184" y="4271330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14 Well – Single remove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1679184" y="4271330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1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2000040" y="427133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333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2435835" y="427133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407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2871630" y="427133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2,151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3307425" y="427133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3743220" y="427133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325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4179015" y="427133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484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4614810" y="427133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606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5050605" y="4271330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320040" y="4373211"/>
            <a:ext cx="5166360" cy="101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TextBox 325"/>
          <p:cNvSpPr txBox="1"/>
          <p:nvPr/>
        </p:nvSpPr>
        <p:spPr>
          <a:xfrm>
            <a:off x="329184" y="4373211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7" name="TextBox 326"/>
          <p:cNvSpPr txBox="1"/>
          <p:nvPr/>
        </p:nvSpPr>
        <p:spPr>
          <a:xfrm>
            <a:off x="1679184" y="4373211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5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2000040" y="437321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421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2435835" y="437321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826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2871630" y="437321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4,398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3307425" y="437321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0.00%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3743220" y="437321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388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4179015" y="437321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659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4614810" y="437321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2,731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5050605" y="4373211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0.00%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320040" y="4475092"/>
            <a:ext cx="5166360" cy="101881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TextBox 336"/>
          <p:cNvSpPr txBox="1"/>
          <p:nvPr/>
        </p:nvSpPr>
        <p:spPr>
          <a:xfrm>
            <a:off x="329184" y="4475092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15 Site – Single add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1679184" y="4475092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1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2000040" y="447509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353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2435835" y="447509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531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2871630" y="447509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2,536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3307425" y="447509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3743220" y="447509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331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4179015" y="447509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404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4614810" y="447509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2,446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5050605" y="4475092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347" name="Rectangle 346"/>
          <p:cNvSpPr/>
          <p:nvPr/>
        </p:nvSpPr>
        <p:spPr>
          <a:xfrm>
            <a:off x="320040" y="4576973"/>
            <a:ext cx="5166360" cy="101881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TextBox 347"/>
          <p:cNvSpPr txBox="1"/>
          <p:nvPr/>
        </p:nvSpPr>
        <p:spPr>
          <a:xfrm>
            <a:off x="329184" y="4576973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9" name="TextBox 348"/>
          <p:cNvSpPr txBox="1"/>
          <p:nvPr/>
        </p:nvSpPr>
        <p:spPr>
          <a:xfrm>
            <a:off x="1679184" y="4576973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5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2000040" y="457697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430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2435835" y="457697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851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2871630" y="457697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4,894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3307425" y="457697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0.02%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3743220" y="457697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362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4179015" y="457697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613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4614810" y="457697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1,363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5050605" y="4576973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0.00%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320040" y="4678854"/>
            <a:ext cx="5166360" cy="101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TextBox 358"/>
          <p:cNvSpPr txBox="1"/>
          <p:nvPr/>
        </p:nvSpPr>
        <p:spPr>
          <a:xfrm>
            <a:off x="329184" y="4678854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16 Site – 3 add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1679184" y="4678854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1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2000040" y="467885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441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2435835" y="467885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1,130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2871630" y="467885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4,917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3307425" y="467885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3743220" y="467885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325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4179015" y="467885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441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4614810" y="467885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916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5050605" y="4678854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320040" y="4780735"/>
            <a:ext cx="5166360" cy="101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TextBox 369"/>
          <p:cNvSpPr txBox="1"/>
          <p:nvPr/>
        </p:nvSpPr>
        <p:spPr>
          <a:xfrm>
            <a:off x="329184" y="4780735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1" name="TextBox 370"/>
          <p:cNvSpPr txBox="1"/>
          <p:nvPr/>
        </p:nvSpPr>
        <p:spPr>
          <a:xfrm>
            <a:off x="1679184" y="4780735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5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2000040" y="478073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413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2435835" y="478073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845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2871630" y="478073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3,406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3307425" y="478073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0.00%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3743220" y="478073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378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4179015" y="478073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671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4614810" y="478073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2,281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5050605" y="4780735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0.00%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320040" y="4882616"/>
            <a:ext cx="5166360" cy="101881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TextBox 380"/>
          <p:cNvSpPr txBox="1"/>
          <p:nvPr/>
        </p:nvSpPr>
        <p:spPr>
          <a:xfrm>
            <a:off x="329184" y="4882616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17 Site – Remove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679184" y="4882616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1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2000040" y="488261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472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2435835" y="488261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1,374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2871630" y="488261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4,815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3307425" y="488261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3743220" y="488261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342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4179015" y="488261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516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4614810" y="488261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1,111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5050605" y="4882616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–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320040" y="4984497"/>
            <a:ext cx="5166360" cy="101881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TextBox 391"/>
          <p:cNvSpPr txBox="1"/>
          <p:nvPr/>
        </p:nvSpPr>
        <p:spPr>
          <a:xfrm>
            <a:off x="329184" y="4984497"/>
            <a:ext cx="134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3" name="TextBox 392"/>
          <p:cNvSpPr txBox="1"/>
          <p:nvPr/>
        </p:nvSpPr>
        <p:spPr>
          <a:xfrm>
            <a:off x="1679184" y="4984497"/>
            <a:ext cx="320856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0" i="1">
                <a:solidFill>
                  <a:srgbClr val="5B626B"/>
                </a:solidFill>
                <a:latin typeface="Calibri"/>
              </a:rPr>
              <a:t>5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2000040" y="498449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457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2435835" y="498449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923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2871630" y="498449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5,999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3307425" y="498449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0.00%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3743220" y="498449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432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4179015" y="498449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745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4614810" y="498449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3,454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5050605" y="4984497"/>
            <a:ext cx="435795" cy="1018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0.00%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7767919" y="1219200"/>
            <a:ext cx="1808180" cy="192024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TextBox 402"/>
          <p:cNvSpPr txBox="1"/>
          <p:nvPr/>
        </p:nvSpPr>
        <p:spPr>
          <a:xfrm>
            <a:off x="7841071" y="1219200"/>
            <a:ext cx="1735028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BEFORE Optimization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9576099" y="1219200"/>
            <a:ext cx="1808180" cy="19202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TextBox 404"/>
          <p:cNvSpPr txBox="1"/>
          <p:nvPr/>
        </p:nvSpPr>
        <p:spPr>
          <a:xfrm>
            <a:off x="9649251" y="1219200"/>
            <a:ext cx="1735028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AFTER Optimization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6217920" y="1354696"/>
            <a:ext cx="3200000" cy="1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44546A"/>
                </a:solidFill>
                <a:latin typeface="Calibri"/>
              </a:rPr>
              <a:t>Response Time / Hold Time / Round Trips</a:t>
            </a:r>
          </a:p>
        </p:txBody>
      </p:sp>
      <p:sp>
        <p:nvSpPr>
          <p:cNvPr id="407" name="Rectangle 406"/>
          <p:cNvSpPr/>
          <p:nvPr/>
        </p:nvSpPr>
        <p:spPr>
          <a:xfrm>
            <a:off x="6217920" y="1512696"/>
            <a:ext cx="5166360" cy="109728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TextBox 407"/>
          <p:cNvSpPr txBox="1"/>
          <p:nvPr/>
        </p:nvSpPr>
        <p:spPr>
          <a:xfrm>
            <a:off x="6227064" y="1512696"/>
            <a:ext cx="154085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7767920" y="1512696"/>
            <a:ext cx="60272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RT (s)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8370646" y="1512696"/>
            <a:ext cx="60272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Hold (ms)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8973373" y="1512696"/>
            <a:ext cx="60272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Trips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9576100" y="1512696"/>
            <a:ext cx="60272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RT (s)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10178826" y="1512696"/>
            <a:ext cx="60272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Hold (ms)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10781553" y="1512696"/>
            <a:ext cx="60272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Trips</a:t>
            </a:r>
          </a:p>
        </p:txBody>
      </p:sp>
      <p:sp>
        <p:nvSpPr>
          <p:cNvPr id="415" name="Rectangle 414"/>
          <p:cNvSpPr/>
          <p:nvPr/>
        </p:nvSpPr>
        <p:spPr>
          <a:xfrm>
            <a:off x="6217920" y="1622424"/>
            <a:ext cx="5166360" cy="194938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TextBox 415"/>
          <p:cNvSpPr txBox="1"/>
          <p:nvPr/>
        </p:nvSpPr>
        <p:spPr>
          <a:xfrm>
            <a:off x="6227064" y="1622424"/>
            <a:ext cx="154085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01 Design – Single add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7767920" y="162242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N/A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8370646" y="162242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N/A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8973373" y="162242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N/A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9576100" y="162242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N/A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10178826" y="162242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N/A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10781553" y="162242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N/A</a:t>
            </a:r>
          </a:p>
        </p:txBody>
      </p:sp>
      <p:sp>
        <p:nvSpPr>
          <p:cNvPr id="423" name="Rectangle 422"/>
          <p:cNvSpPr/>
          <p:nvPr/>
        </p:nvSpPr>
        <p:spPr>
          <a:xfrm>
            <a:off x="6217920" y="1817362"/>
            <a:ext cx="5166360" cy="1949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TextBox 423"/>
          <p:cNvSpPr txBox="1"/>
          <p:nvPr/>
        </p:nvSpPr>
        <p:spPr>
          <a:xfrm>
            <a:off x="6227064" y="1817362"/>
            <a:ext cx="154085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02 Design – 5 add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7767920" y="181736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2.83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8370646" y="181736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2,512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8973373" y="181736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25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576100" y="181736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1.18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10178826" y="181736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842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10781553" y="181736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5</a:t>
            </a:r>
          </a:p>
        </p:txBody>
      </p:sp>
      <p:sp>
        <p:nvSpPr>
          <p:cNvPr id="431" name="Rectangle 430"/>
          <p:cNvSpPr/>
          <p:nvPr/>
        </p:nvSpPr>
        <p:spPr>
          <a:xfrm>
            <a:off x="6217920" y="2012300"/>
            <a:ext cx="5166360" cy="194938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TextBox 431"/>
          <p:cNvSpPr txBox="1"/>
          <p:nvPr/>
        </p:nvSpPr>
        <p:spPr>
          <a:xfrm>
            <a:off x="6227064" y="2012300"/>
            <a:ext cx="154085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03 Design – 10 add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7767920" y="2012300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5.21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8370646" y="2012300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4,857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8973373" y="2012300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45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9576100" y="2012300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0.97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10178826" y="2012300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607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10781553" y="2012300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7</a:t>
            </a:r>
          </a:p>
        </p:txBody>
      </p:sp>
      <p:sp>
        <p:nvSpPr>
          <p:cNvPr id="439" name="Rectangle 438"/>
          <p:cNvSpPr/>
          <p:nvPr/>
        </p:nvSpPr>
        <p:spPr>
          <a:xfrm>
            <a:off x="6217920" y="2207238"/>
            <a:ext cx="5166360" cy="1949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TextBox 439"/>
          <p:cNvSpPr txBox="1"/>
          <p:nvPr/>
        </p:nvSpPr>
        <p:spPr>
          <a:xfrm>
            <a:off x="6227064" y="2207238"/>
            <a:ext cx="154085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04 Design – Single remove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7767920" y="2207238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0.82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8370646" y="2207238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461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8973373" y="2207238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1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9576100" y="2207238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0.44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10178826" y="2207238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133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10781553" y="2207238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</a:t>
            </a:r>
          </a:p>
        </p:txBody>
      </p:sp>
      <p:sp>
        <p:nvSpPr>
          <p:cNvPr id="447" name="Rectangle 446"/>
          <p:cNvSpPr/>
          <p:nvPr/>
        </p:nvSpPr>
        <p:spPr>
          <a:xfrm>
            <a:off x="6217920" y="2402176"/>
            <a:ext cx="5166360" cy="194938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TextBox 447"/>
          <p:cNvSpPr txBox="1"/>
          <p:nvPr/>
        </p:nvSpPr>
        <p:spPr>
          <a:xfrm>
            <a:off x="6227064" y="2402176"/>
            <a:ext cx="154085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05 Design – 5 remove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7767920" y="2402176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0.68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8370646" y="2402176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342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8973373" y="2402176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5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9576100" y="2402176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0.52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10178826" y="2402176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182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10781553" y="2402176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</a:t>
            </a:r>
          </a:p>
        </p:txBody>
      </p:sp>
      <p:sp>
        <p:nvSpPr>
          <p:cNvPr id="455" name="Rectangle 454"/>
          <p:cNvSpPr/>
          <p:nvPr/>
        </p:nvSpPr>
        <p:spPr>
          <a:xfrm>
            <a:off x="6217920" y="2597114"/>
            <a:ext cx="5166360" cy="1949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TextBox 455"/>
          <p:cNvSpPr txBox="1"/>
          <p:nvPr/>
        </p:nvSpPr>
        <p:spPr>
          <a:xfrm>
            <a:off x="6227064" y="2597114"/>
            <a:ext cx="154085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06 Design – Add+Remove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7767920" y="259711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2.94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8370646" y="259711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2,577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8973373" y="259711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10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9576100" y="259711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1.97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10178826" y="259711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1,056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10781553" y="259711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5</a:t>
            </a:r>
          </a:p>
        </p:txBody>
      </p:sp>
      <p:sp>
        <p:nvSpPr>
          <p:cNvPr id="463" name="Rectangle 462"/>
          <p:cNvSpPr/>
          <p:nvPr/>
        </p:nvSpPr>
        <p:spPr>
          <a:xfrm>
            <a:off x="6217920" y="2792052"/>
            <a:ext cx="5166360" cy="194938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TextBox 463"/>
          <p:cNvSpPr txBox="1"/>
          <p:nvPr/>
        </p:nvSpPr>
        <p:spPr>
          <a:xfrm>
            <a:off x="6227064" y="2792052"/>
            <a:ext cx="154085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07 Design – Re-add (idem)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7767920" y="279205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2.61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8370646" y="279205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2,294</a:t>
            </a:r>
          </a:p>
        </p:txBody>
      </p:sp>
      <p:sp>
        <p:nvSpPr>
          <p:cNvPr id="467" name="TextBox 466"/>
          <p:cNvSpPr txBox="1"/>
          <p:nvPr/>
        </p:nvSpPr>
        <p:spPr>
          <a:xfrm>
            <a:off x="8973373" y="279205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8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9576100" y="279205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1.14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10178826" y="279205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779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10781553" y="279205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</a:t>
            </a:r>
          </a:p>
        </p:txBody>
      </p:sp>
      <p:sp>
        <p:nvSpPr>
          <p:cNvPr id="471" name="Rectangle 470"/>
          <p:cNvSpPr/>
          <p:nvPr/>
        </p:nvSpPr>
        <p:spPr>
          <a:xfrm>
            <a:off x="6217920" y="2986990"/>
            <a:ext cx="5166360" cy="1949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TextBox 471"/>
          <p:cNvSpPr txBox="1"/>
          <p:nvPr/>
        </p:nvSpPr>
        <p:spPr>
          <a:xfrm>
            <a:off x="6227064" y="2986990"/>
            <a:ext cx="154085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08 Design – Remove n/a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7767920" y="2986990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1.05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8370646" y="2986990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490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8973373" y="2986990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9576100" y="2986990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1.72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10178826" y="2986990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166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10781553" y="2986990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</a:t>
            </a:r>
          </a:p>
        </p:txBody>
      </p:sp>
      <p:sp>
        <p:nvSpPr>
          <p:cNvPr id="479" name="Rectangle 478"/>
          <p:cNvSpPr/>
          <p:nvPr/>
        </p:nvSpPr>
        <p:spPr>
          <a:xfrm>
            <a:off x="6217920" y="3181928"/>
            <a:ext cx="5166360" cy="194938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TextBox 479"/>
          <p:cNvSpPr txBox="1"/>
          <p:nvPr/>
        </p:nvSpPr>
        <p:spPr>
          <a:xfrm>
            <a:off x="6227064" y="3181928"/>
            <a:ext cx="154085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09 Wellbore – Single add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7767920" y="3181928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0.96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8370646" y="3181928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619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8973373" y="3181928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9576100" y="3181928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1.47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10178826" y="3181928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977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10781553" y="3181928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</a:t>
            </a:r>
          </a:p>
        </p:txBody>
      </p:sp>
      <p:sp>
        <p:nvSpPr>
          <p:cNvPr id="487" name="Rectangle 486"/>
          <p:cNvSpPr/>
          <p:nvPr/>
        </p:nvSpPr>
        <p:spPr>
          <a:xfrm>
            <a:off x="6217920" y="3376866"/>
            <a:ext cx="5166360" cy="1949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8" name="TextBox 487"/>
          <p:cNvSpPr txBox="1"/>
          <p:nvPr/>
        </p:nvSpPr>
        <p:spPr>
          <a:xfrm>
            <a:off x="6227064" y="3376866"/>
            <a:ext cx="154085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10 Wellbore – 3 add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7767920" y="3376866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1.61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8370646" y="3376866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1,264</a:t>
            </a:r>
          </a:p>
        </p:txBody>
      </p:sp>
      <p:sp>
        <p:nvSpPr>
          <p:cNvPr id="491" name="TextBox 490"/>
          <p:cNvSpPr txBox="1"/>
          <p:nvPr/>
        </p:nvSpPr>
        <p:spPr>
          <a:xfrm>
            <a:off x="8973373" y="3376866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9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9576100" y="3376866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0.82</a:t>
            </a:r>
          </a:p>
        </p:txBody>
      </p:sp>
      <p:sp>
        <p:nvSpPr>
          <p:cNvPr id="493" name="TextBox 492"/>
          <p:cNvSpPr txBox="1"/>
          <p:nvPr/>
        </p:nvSpPr>
        <p:spPr>
          <a:xfrm>
            <a:off x="10178826" y="3376866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458</a:t>
            </a:r>
          </a:p>
        </p:txBody>
      </p:sp>
      <p:sp>
        <p:nvSpPr>
          <p:cNvPr id="494" name="TextBox 493"/>
          <p:cNvSpPr txBox="1"/>
          <p:nvPr/>
        </p:nvSpPr>
        <p:spPr>
          <a:xfrm>
            <a:off x="10781553" y="3376866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</a:t>
            </a:r>
          </a:p>
        </p:txBody>
      </p:sp>
      <p:sp>
        <p:nvSpPr>
          <p:cNvPr id="495" name="Rectangle 494"/>
          <p:cNvSpPr/>
          <p:nvPr/>
        </p:nvSpPr>
        <p:spPr>
          <a:xfrm>
            <a:off x="6217920" y="3571804"/>
            <a:ext cx="5166360" cy="194938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6" name="TextBox 495"/>
          <p:cNvSpPr txBox="1"/>
          <p:nvPr/>
        </p:nvSpPr>
        <p:spPr>
          <a:xfrm>
            <a:off x="6227064" y="3571804"/>
            <a:ext cx="154085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11 Wellbore – Single remove</a:t>
            </a:r>
          </a:p>
        </p:txBody>
      </p:sp>
      <p:sp>
        <p:nvSpPr>
          <p:cNvPr id="497" name="TextBox 496"/>
          <p:cNvSpPr txBox="1"/>
          <p:nvPr/>
        </p:nvSpPr>
        <p:spPr>
          <a:xfrm>
            <a:off x="7767920" y="357180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0.59</a:t>
            </a:r>
          </a:p>
        </p:txBody>
      </p:sp>
      <p:sp>
        <p:nvSpPr>
          <p:cNvPr id="498" name="TextBox 497"/>
          <p:cNvSpPr txBox="1"/>
          <p:nvPr/>
        </p:nvSpPr>
        <p:spPr>
          <a:xfrm>
            <a:off x="8370646" y="357180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209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8973373" y="357180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9576100" y="357180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1.25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10178826" y="357180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823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10781553" y="357180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2</a:t>
            </a:r>
          </a:p>
        </p:txBody>
      </p:sp>
      <p:sp>
        <p:nvSpPr>
          <p:cNvPr id="503" name="Rectangle 502"/>
          <p:cNvSpPr/>
          <p:nvPr/>
        </p:nvSpPr>
        <p:spPr>
          <a:xfrm>
            <a:off x="6217920" y="3766742"/>
            <a:ext cx="5166360" cy="1949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TextBox 503"/>
          <p:cNvSpPr txBox="1"/>
          <p:nvPr/>
        </p:nvSpPr>
        <p:spPr>
          <a:xfrm>
            <a:off x="6227064" y="3766742"/>
            <a:ext cx="154085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12 Well – Single add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7767920" y="376674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0.54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8370646" y="376674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190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8973373" y="376674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2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9576100" y="376674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0.67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10178826" y="376674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301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10781553" y="376674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2</a:t>
            </a:r>
          </a:p>
        </p:txBody>
      </p:sp>
      <p:sp>
        <p:nvSpPr>
          <p:cNvPr id="511" name="Rectangle 510"/>
          <p:cNvSpPr/>
          <p:nvPr/>
        </p:nvSpPr>
        <p:spPr>
          <a:xfrm>
            <a:off x="6217920" y="3961680"/>
            <a:ext cx="5166360" cy="194938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2" name="TextBox 511"/>
          <p:cNvSpPr txBox="1"/>
          <p:nvPr/>
        </p:nvSpPr>
        <p:spPr>
          <a:xfrm>
            <a:off x="6227064" y="3961680"/>
            <a:ext cx="154085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13 Well – 3 add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7767920" y="3961680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0.80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8370646" y="3961680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485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8973373" y="3961680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6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9576100" y="3961680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0.65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10178826" y="3961680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301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10781553" y="3961680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2</a:t>
            </a:r>
          </a:p>
        </p:txBody>
      </p:sp>
      <p:sp>
        <p:nvSpPr>
          <p:cNvPr id="519" name="Rectangle 518"/>
          <p:cNvSpPr/>
          <p:nvPr/>
        </p:nvSpPr>
        <p:spPr>
          <a:xfrm>
            <a:off x="6217920" y="4156618"/>
            <a:ext cx="5166360" cy="1949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0" name="TextBox 519"/>
          <p:cNvSpPr txBox="1"/>
          <p:nvPr/>
        </p:nvSpPr>
        <p:spPr>
          <a:xfrm>
            <a:off x="6227064" y="4156618"/>
            <a:ext cx="154085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14 Well – Single remove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7767920" y="4156618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0.97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8370646" y="4156618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411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8973373" y="4156618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3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9576100" y="4156618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0.95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10178826" y="4156618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642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10781553" y="4156618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3</a:t>
            </a:r>
          </a:p>
        </p:txBody>
      </p:sp>
      <p:sp>
        <p:nvSpPr>
          <p:cNvPr id="527" name="Rectangle 526"/>
          <p:cNvSpPr/>
          <p:nvPr/>
        </p:nvSpPr>
        <p:spPr>
          <a:xfrm>
            <a:off x="6217920" y="4351556"/>
            <a:ext cx="5166360" cy="194938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TextBox 527"/>
          <p:cNvSpPr txBox="1"/>
          <p:nvPr/>
        </p:nvSpPr>
        <p:spPr>
          <a:xfrm>
            <a:off x="6227064" y="4351556"/>
            <a:ext cx="154085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15 Site – Single add</a:t>
            </a:r>
          </a:p>
        </p:txBody>
      </p:sp>
      <p:sp>
        <p:nvSpPr>
          <p:cNvPr id="529" name="TextBox 528"/>
          <p:cNvSpPr txBox="1"/>
          <p:nvPr/>
        </p:nvSpPr>
        <p:spPr>
          <a:xfrm>
            <a:off x="7767920" y="4351556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0.51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8370646" y="4351556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153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8973373" y="4351556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1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9576100" y="4351556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0.79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10178826" y="4351556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275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10781553" y="4351556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1</a:t>
            </a:r>
          </a:p>
        </p:txBody>
      </p:sp>
      <p:sp>
        <p:nvSpPr>
          <p:cNvPr id="535" name="Rectangle 534"/>
          <p:cNvSpPr/>
          <p:nvPr/>
        </p:nvSpPr>
        <p:spPr>
          <a:xfrm>
            <a:off x="6217920" y="4546494"/>
            <a:ext cx="5166360" cy="1949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6" name="TextBox 535"/>
          <p:cNvSpPr txBox="1"/>
          <p:nvPr/>
        </p:nvSpPr>
        <p:spPr>
          <a:xfrm>
            <a:off x="6227064" y="4546494"/>
            <a:ext cx="154085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16 Site – 3 add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7767920" y="454649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N/A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8370646" y="454649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N/A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8973373" y="454649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N/A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9576100" y="454649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N/A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10178826" y="454649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N/A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10781553" y="4546494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626B"/>
                </a:solidFill>
                <a:latin typeface="Calibri"/>
              </a:rPr>
              <a:t>N/A</a:t>
            </a:r>
          </a:p>
        </p:txBody>
      </p:sp>
      <p:sp>
        <p:nvSpPr>
          <p:cNvPr id="543" name="Rectangle 542"/>
          <p:cNvSpPr/>
          <p:nvPr/>
        </p:nvSpPr>
        <p:spPr>
          <a:xfrm>
            <a:off x="6217920" y="4741432"/>
            <a:ext cx="5166360" cy="194938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TextBox 543"/>
          <p:cNvSpPr txBox="1"/>
          <p:nvPr/>
        </p:nvSpPr>
        <p:spPr>
          <a:xfrm>
            <a:off x="6227064" y="4741432"/>
            <a:ext cx="154085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0" b="1" i="0">
                <a:solidFill>
                  <a:srgbClr val="44546A"/>
                </a:solidFill>
                <a:latin typeface="Calibri"/>
              </a:rPr>
              <a:t>17 Site – Remove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7767920" y="474143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1.55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8370646" y="474143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1,193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8973373" y="474143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C0392B"/>
                </a:solidFill>
                <a:latin typeface="Calibri"/>
              </a:rPr>
              <a:t>4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9576100" y="474143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0.76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10178826" y="474143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438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10781553" y="4741432"/>
            <a:ext cx="602726" cy="194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1E8449"/>
                </a:solidFill>
                <a:latin typeface="Calibri"/>
              </a:rPr>
              <a:t>4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320040" y="5116378"/>
            <a:ext cx="1120144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1">
                <a:solidFill>
                  <a:srgbClr val="5B626B"/>
                </a:solidFill>
                <a:latin typeface="Calibri"/>
              </a:rPr>
              <a:t>N/A = scenario not exercised in the developer-profiling test run (01 Design single add, 16 Site 3 add). Wellbore/Well single-item calls show added profiling overhead vs. baseline; net gains are driven by batch operations.</a:t>
            </a:r>
          </a:p>
        </p:txBody>
      </p:sp>
      <p:sp>
        <p:nvSpPr>
          <p:cNvPr id="552" name="Rectangle 551"/>
          <p:cNvSpPr/>
          <p:nvPr/>
        </p:nvSpPr>
        <p:spPr>
          <a:xfrm>
            <a:off x="320040" y="5486400"/>
            <a:ext cx="11521440" cy="804672"/>
          </a:xfrm>
          <a:prstGeom prst="rect">
            <a:avLst/>
          </a:prstGeom>
          <a:solidFill>
            <a:srgbClr val="025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" name="TextBox 552"/>
          <p:cNvSpPr txBox="1"/>
          <p:nvPr/>
        </p:nvSpPr>
        <p:spPr>
          <a:xfrm>
            <a:off x="502920" y="554126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E5DC00"/>
                </a:solidFill>
                <a:latin typeface="Calibri"/>
              </a:rPr>
              <a:t>Key Results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502920" y="57607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  <a:latin typeface="Calibri"/>
              </a:rPr>
              <a:t>27%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1143000" y="576072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Avg Response Time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Reduction (1 User)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2377440" y="57607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  <a:latin typeface="Calibri"/>
              </a:rPr>
              <a:t>67%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3017520" y="576072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P95 Latency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Reduction (1 User)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4251960" y="57607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  <a:latin typeface="Calibri"/>
              </a:rPr>
              <a:t>100%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4892040" y="576072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Error Rate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Reduction (5 Users)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6126480" y="57607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ED7D31"/>
                </a:solidFill>
                <a:latin typeface="Calibri"/>
              </a:rPr>
              <a:t>2.8×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6766560" y="576072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Fewer DB Round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Trips (Profiling)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8001000" y="57607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  <a:latin typeface="Calibri"/>
              </a:rPr>
              <a:t>56%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8641080" y="576072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Txn Hold Time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Reduction (Profiling)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9875520" y="57607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  <a:latin typeface="Calibri"/>
              </a:rPr>
              <a:t>35%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10515600" y="576072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Response Time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Reduction (Profiling)</a:t>
            </a:r>
          </a:p>
        </p:txBody>
      </p:sp>
      <p:sp>
        <p:nvSpPr>
          <p:cNvPr id="566" name="Rectangle 565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25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TextBox 566"/>
          <p:cNvSpPr txBox="1"/>
          <p:nvPr/>
        </p:nvSpPr>
        <p:spPr>
          <a:xfrm>
            <a:off x="457200" y="6510528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BFE0E0"/>
                </a:solidFill>
                <a:latin typeface="Palatino Linotype"/>
              </a:rPr>
              <a:t>Halliburton × Psiog  |  Performance Engineering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8229600" y="6510528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BFE0E0"/>
                </a:solidFill>
                <a:latin typeface="Palatino Linotype"/>
              </a:rPr>
              <a:t>Fix 8.1 — Target Assignment Optimization Report</a:t>
            </a:r>
          </a:p>
        </p:txBody>
      </p:sp>
    </p:spTree>
    <p:extLst>
      <p:ext uri="{BB962C8B-B14F-4D97-AF65-F5344CB8AC3E}">
        <p14:creationId xmlns:p14="http://schemas.microsoft.com/office/powerpoint/2010/main" val="3548690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8.2 — Performance Summary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Cache fix · Trajectory_Cache_Comparison API · 8 Endpoints · 1 User &amp; 5 Concurrent Users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92640" y="164592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92640" y="16459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8.2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FFFFFF"/>
                </a:solidFill>
                <a:ea typeface="Calibri"/>
                <a:cs typeface="Calibri"/>
              </a:rPr>
              <a:t>Trajectory Cache </a:t>
            </a:r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Halliburton x Paigo | Performance Engineering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6492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8.2 — Performance Summary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143000"/>
            <a:ext cx="10698480" cy="3840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11430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JMeter Testing (Tiger vs Feature)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1554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(ms)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731520" y="1691640"/>
          <a:ext cx="10716768" cy="353872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96596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43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B35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5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596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01 - EachPoint – Cache Miss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5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4,579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596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02 - EachPoint – Cache Hit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4,807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5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596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03 - MeasuredDepth – Cache Miss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1,163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5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596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04 - MeasuredDepth – Cache Hit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5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596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05 - TrueVerticalDepths – Cache Miss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5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1,678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6596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06 - TrueVerticalDepths – Cache Hit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1,162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5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2,551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1,978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6596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07 - atInterval – Cache Miss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1,146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65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1,464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6596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08 - atInterval – Cache Hit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2,455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65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6,972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6,247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0" marB="0" anchor="ctr">
                    <a:lnL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731520" y="537667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= faster on Feature; negative = Feature slower than Tiger at that percentile.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0" y="5715000"/>
            <a:ext cx="12188952" cy="713232"/>
          </a:xfrm>
          <a:prstGeom prst="rect">
            <a:avLst/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5760" y="571500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377440" y="573328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~0% | +3%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840480" y="573328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Change (1U | 5U)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→ Feature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5577840" y="573328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-14% | +4%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573328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Change (1U | 5U)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→ Feature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8778240" y="573328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-70% | +20%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0241280" y="573328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Change (1U | 5U)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→ Feature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84965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>
            <a:extLst>
              <a:ext uri="{FF2B5EF4-FFF2-40B4-BE49-F238E27FC236}">
                <a16:creationId xmlns:a16="http://schemas.microsoft.com/office/drawing/2014/main" id="{3EC75552-B16F-AD60-F4A2-2BE7F325C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6"/>
            <a:ext cx="12190413" cy="776187"/>
          </a:xfrm>
          <a:prstGeom prst="rect">
            <a:avLst/>
          </a:prstGeom>
          <a:solidFill>
            <a:srgbClr val="0251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480" cap="flat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7C8FA691-BD9B-D669-CB20-FEE2647CB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41" y="109970"/>
            <a:ext cx="8411068" cy="33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2200" b="1">
                <a:solidFill>
                  <a:srgbClr val="FFFFFF"/>
                </a:solidFill>
                <a:latin typeface="Palatino Linotype" panose="02040502050505030304" pitchFamily="18" charset="0"/>
              </a:rPr>
              <a:t>Fix 1.2 — Performance Summary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48191AB-33CD-76F1-CC35-EF20D4C36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40" y="484572"/>
            <a:ext cx="9142810" cy="168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1100" i="1">
                <a:solidFill>
                  <a:srgbClr val="B7D4CF"/>
                </a:solidFill>
                <a:latin typeface="Palatino Linotype" panose="02040502050505030304" pitchFamily="18" charset="0"/>
              </a:rPr>
              <a:t>Sync JDBC to node PG migration ·  13 APIs  ·  1 User &amp; 5 Concurrent Users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BAC89B54-F82C-3EAE-9010-5D65CC53A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629" y="182986"/>
            <a:ext cx="1553960" cy="411108"/>
          </a:xfrm>
          <a:prstGeom prst="rect">
            <a:avLst/>
          </a:prstGeom>
          <a:solidFill>
            <a:srgbClr val="13A2A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480" cap="flat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1F221CA7-96C8-E981-977B-129C2162C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629" y="221081"/>
            <a:ext cx="1553960" cy="336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en-US" sz="1100" b="1">
                <a:solidFill>
                  <a:srgbClr val="FFFFFF"/>
                </a:solidFill>
                <a:latin typeface="Palatino Linotype" panose="02040502050505030304" pitchFamily="18" charset="0"/>
              </a:rPr>
              <a:t>Fix 1.2</a:t>
            </a:r>
          </a:p>
          <a:p>
            <a:pPr algn="ctr">
              <a:lnSpc>
                <a:spcPct val="100000"/>
              </a:lnSpc>
            </a:pPr>
            <a:r>
              <a:rPr lang="en-US" altLang="en-US" sz="1100" b="1">
                <a:solidFill>
                  <a:srgbClr val="FFFFFF"/>
                </a:solidFill>
                <a:latin typeface="Palatino Linotype" panose="02040502050505030304" pitchFamily="18" charset="0"/>
              </a:rPr>
              <a:t>Middleware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C2022840-602F-35AA-B62B-C6DA6F4E5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33" y="914728"/>
            <a:ext cx="5531718" cy="274602"/>
          </a:xfrm>
          <a:prstGeom prst="rect">
            <a:avLst/>
          </a:prstGeom>
          <a:solidFill>
            <a:srgbClr val="13A2A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480" cap="flat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131FC8A7-E700-5BE4-BE27-913FEDD3A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157" y="952823"/>
            <a:ext cx="5347591" cy="198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1300" b="1">
                <a:solidFill>
                  <a:srgbClr val="FFFFFF"/>
                </a:solidFill>
                <a:latin typeface="Palatino Linotype" panose="02040502050505030304" pitchFamily="18" charset="0"/>
              </a:rPr>
              <a:t>JMeter Testing (dev-integration vs feature)</a:t>
            </a:r>
          </a:p>
        </p:txBody>
      </p:sp>
      <p:sp>
        <p:nvSpPr>
          <p:cNvPr id="7176" name="Rectangle 8">
            <a:extLst>
              <a:ext uri="{FF2B5EF4-FFF2-40B4-BE49-F238E27FC236}">
                <a16:creationId xmlns:a16="http://schemas.microsoft.com/office/drawing/2014/main" id="{75D4AD0D-FB78-6BAB-A658-8A883C5B0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1892" y="1243298"/>
            <a:ext cx="1695229" cy="192062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480" cap="flat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177" name="Rectangle 9">
            <a:extLst>
              <a:ext uri="{FF2B5EF4-FFF2-40B4-BE49-F238E27FC236}">
                <a16:creationId xmlns:a16="http://schemas.microsoft.com/office/drawing/2014/main" id="{85C75532-1FEE-AFAB-F0C7-92AFBC9C7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1892" y="1270282"/>
            <a:ext cx="1695229" cy="138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en-US" sz="900" b="1">
                <a:solidFill>
                  <a:srgbClr val="FFFFFF"/>
                </a:solidFill>
                <a:latin typeface="Calibri" panose="020F0502020204030204" pitchFamily="34" charset="0"/>
              </a:rPr>
              <a:t>TIGER</a:t>
            </a:r>
          </a:p>
        </p:txBody>
      </p:sp>
      <p:sp>
        <p:nvSpPr>
          <p:cNvPr id="7178" name="Rectangle 10">
            <a:extLst>
              <a:ext uri="{FF2B5EF4-FFF2-40B4-BE49-F238E27FC236}">
                <a16:creationId xmlns:a16="http://schemas.microsoft.com/office/drawing/2014/main" id="{6CF420CA-DF78-F477-FD48-91C83FAA9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122" y="1243298"/>
            <a:ext cx="1695229" cy="19206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480" cap="flat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179" name="Rectangle 11">
            <a:extLst>
              <a:ext uri="{FF2B5EF4-FFF2-40B4-BE49-F238E27FC236}">
                <a16:creationId xmlns:a16="http://schemas.microsoft.com/office/drawing/2014/main" id="{9FA11D1F-0363-FF6A-226C-19294DDF7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122" y="1270282"/>
            <a:ext cx="1695229" cy="138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en-US" sz="900" b="1">
                <a:solidFill>
                  <a:srgbClr val="FFFFFF"/>
                </a:solidFill>
                <a:latin typeface="Calibri" panose="020F0502020204030204" pitchFamily="34" charset="0"/>
              </a:rPr>
              <a:t>FEATURE</a:t>
            </a:r>
          </a:p>
        </p:txBody>
      </p:sp>
      <p:sp>
        <p:nvSpPr>
          <p:cNvPr id="7180" name="Rectangle 12">
            <a:extLst>
              <a:ext uri="{FF2B5EF4-FFF2-40B4-BE49-F238E27FC236}">
                <a16:creationId xmlns:a16="http://schemas.microsoft.com/office/drawing/2014/main" id="{C9712D17-921C-5D0C-7D77-A2A2E0E7C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33" y="1278219"/>
            <a:ext cx="2095227" cy="122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800" b="1">
                <a:solidFill>
                  <a:srgbClr val="44546A"/>
                </a:solidFill>
                <a:latin typeface="Calibri" panose="020F0502020204030204" pitchFamily="34" charset="0"/>
              </a:rPr>
              <a:t>(ms)</a:t>
            </a:r>
          </a:p>
        </p:txBody>
      </p:sp>
      <p:graphicFrame>
        <p:nvGraphicFramePr>
          <p:cNvPr id="7181" name="Group 13">
            <a:extLst>
              <a:ext uri="{FF2B5EF4-FFF2-40B4-BE49-F238E27FC236}">
                <a16:creationId xmlns:a16="http://schemas.microsoft.com/office/drawing/2014/main" id="{C074B474-C3A3-3118-715C-133672C0EA28}"/>
              </a:ext>
            </a:extLst>
          </p:cNvPr>
          <p:cNvGraphicFramePr>
            <a:graphicFrameLocks noGrp="1"/>
          </p:cNvGraphicFramePr>
          <p:nvPr/>
        </p:nvGraphicFramePr>
        <p:xfrm>
          <a:off x="320633" y="1463931"/>
          <a:ext cx="5531716" cy="3771414"/>
        </p:xfrm>
        <a:graphic>
          <a:graphicData uri="http://schemas.openxmlformats.org/drawingml/2006/table">
            <a:tbl>
              <a:tblPr/>
              <a:tblGrid>
                <a:gridCol w="1776182">
                  <a:extLst>
                    <a:ext uri="{9D8B030D-6E8A-4147-A177-3AD203B41FA5}">
                      <a16:colId xmlns:a16="http://schemas.microsoft.com/office/drawing/2014/main" val="2056667238"/>
                    </a:ext>
                  </a:extLst>
                </a:gridCol>
                <a:gridCol w="363490">
                  <a:extLst>
                    <a:ext uri="{9D8B030D-6E8A-4147-A177-3AD203B41FA5}">
                      <a16:colId xmlns:a16="http://schemas.microsoft.com/office/drawing/2014/main" val="3607019745"/>
                    </a:ext>
                  </a:extLst>
                </a:gridCol>
                <a:gridCol w="565076">
                  <a:extLst>
                    <a:ext uri="{9D8B030D-6E8A-4147-A177-3AD203B41FA5}">
                      <a16:colId xmlns:a16="http://schemas.microsoft.com/office/drawing/2014/main" val="3536170747"/>
                    </a:ext>
                  </a:extLst>
                </a:gridCol>
                <a:gridCol w="566664">
                  <a:extLst>
                    <a:ext uri="{9D8B030D-6E8A-4147-A177-3AD203B41FA5}">
                      <a16:colId xmlns:a16="http://schemas.microsoft.com/office/drawing/2014/main" val="42701926"/>
                    </a:ext>
                  </a:extLst>
                </a:gridCol>
                <a:gridCol w="565076">
                  <a:extLst>
                    <a:ext uri="{9D8B030D-6E8A-4147-A177-3AD203B41FA5}">
                      <a16:colId xmlns:a16="http://schemas.microsoft.com/office/drawing/2014/main" val="3724202442"/>
                    </a:ext>
                  </a:extLst>
                </a:gridCol>
                <a:gridCol w="565076">
                  <a:extLst>
                    <a:ext uri="{9D8B030D-6E8A-4147-A177-3AD203B41FA5}">
                      <a16:colId xmlns:a16="http://schemas.microsoft.com/office/drawing/2014/main" val="209716246"/>
                    </a:ext>
                  </a:extLst>
                </a:gridCol>
                <a:gridCol w="565076">
                  <a:extLst>
                    <a:ext uri="{9D8B030D-6E8A-4147-A177-3AD203B41FA5}">
                      <a16:colId xmlns:a16="http://schemas.microsoft.com/office/drawing/2014/main" val="4152165897"/>
                    </a:ext>
                  </a:extLst>
                </a:gridCol>
                <a:gridCol w="565076">
                  <a:extLst>
                    <a:ext uri="{9D8B030D-6E8A-4147-A177-3AD203B41FA5}">
                      <a16:colId xmlns:a16="http://schemas.microsoft.com/office/drawing/2014/main" val="2617591844"/>
                    </a:ext>
                  </a:extLst>
                </a:gridCol>
              </a:tblGrid>
              <a:tr h="139682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API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Users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Avg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P95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Max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Avg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P95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Max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008905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BHACaseDetails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456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830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930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513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1,141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1,377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475333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8,102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28,685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29,228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739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1,654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2,519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209656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DesignSummary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595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1,451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2,451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438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888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1,127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620983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10,705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48,895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51,345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542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1,193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2,856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84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getcheckTemplateApplied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5,449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9,845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10,135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5,136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8,332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11,072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042202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28,377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73,480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76,671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12,096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19,201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23,308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292923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getCustomLoads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719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1,982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4,813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649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1,981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2,866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480872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12,995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73,281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78,169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1,104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2,091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4,099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658546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getStandardLoadTemperature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1,127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3,787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12,187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584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1,391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1,842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97301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15,850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53,082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54,955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971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2,163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7,263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173729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Load Design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6,897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10,434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16,168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1,929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4,626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12,334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869809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40,400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102,775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108,527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3,747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6,632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18,862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914362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v2/BHACaseDetails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581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2,394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2,424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602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1,171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1,331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016979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15,973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51,803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52,932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899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1,941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2,844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973945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createStandardLoads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455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924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924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373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723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923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067225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19,521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62,247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62,666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402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838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1,509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489375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defaultRowCalcData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638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1,798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1,827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345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880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1,951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292820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12,440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69,178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69,178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522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1,012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1,535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315906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saveCustomLoads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399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1,650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1,749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305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387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762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052781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14,006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53,850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54,293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299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374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992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012747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SaveDesign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747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4,255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4,487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338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443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1,064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755667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22,780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138,942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148,400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461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1,345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1,850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800892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saveStandardLoadTemperatureProfile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489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2,300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2,453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344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415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3,009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080617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13,505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84,190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85,399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319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391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850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597849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createDefinitiveSurveys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26,437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37,296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37,322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4,755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10,177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21,705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46852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75,602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147,476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147,476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24,772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40,466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49,052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783815"/>
                  </a:ext>
                </a:extLst>
              </a:tr>
            </a:tbl>
          </a:graphicData>
        </a:graphic>
      </p:graphicFrame>
      <p:sp>
        <p:nvSpPr>
          <p:cNvPr id="7385" name="Rectangle 217">
            <a:extLst>
              <a:ext uri="{FF2B5EF4-FFF2-40B4-BE49-F238E27FC236}">
                <a16:creationId xmlns:a16="http://schemas.microsoft.com/office/drawing/2014/main" id="{CB9CD328-61FD-F5C0-FD5B-1B07B73D9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33" y="5279784"/>
            <a:ext cx="5531718" cy="123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800" i="1">
                <a:solidFill>
                  <a:srgbClr val="5B626B"/>
                </a:solidFill>
                <a:latin typeface="Calibri" panose="020F0502020204030204" pitchFamily="34" charset="0"/>
              </a:rPr>
              <a:t>Errors @5U: SaveDesign 1 → 0, saveStandardLoadTemperatureProfile 1 → 0, createDefinitiveSurveys 3 → 5. Others: 0.</a:t>
            </a:r>
          </a:p>
        </p:txBody>
      </p:sp>
      <p:sp>
        <p:nvSpPr>
          <p:cNvPr id="7386" name="Rectangle 218">
            <a:extLst>
              <a:ext uri="{FF2B5EF4-FFF2-40B4-BE49-F238E27FC236}">
                <a16:creationId xmlns:a16="http://schemas.microsoft.com/office/drawing/2014/main" id="{FE8EFD47-E5F9-DB2D-AF15-91C09150A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8857" y="914728"/>
            <a:ext cx="17461" cy="4525374"/>
          </a:xfrm>
          <a:prstGeom prst="rect">
            <a:avLst/>
          </a:prstGeom>
          <a:solidFill>
            <a:srgbClr val="B8C4D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480" cap="flat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387" name="Rectangle 219">
            <a:extLst>
              <a:ext uri="{FF2B5EF4-FFF2-40B4-BE49-F238E27FC236}">
                <a16:creationId xmlns:a16="http://schemas.microsoft.com/office/drawing/2014/main" id="{76A2C83C-5F02-B494-FD40-CC370044E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6475" y="914728"/>
            <a:ext cx="5531718" cy="274602"/>
          </a:xfrm>
          <a:prstGeom prst="rect">
            <a:avLst/>
          </a:prstGeom>
          <a:solidFill>
            <a:srgbClr val="13A2A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480" cap="flat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388" name="Rectangle 220">
            <a:extLst>
              <a:ext uri="{FF2B5EF4-FFF2-40B4-BE49-F238E27FC236}">
                <a16:creationId xmlns:a16="http://schemas.microsoft.com/office/drawing/2014/main" id="{145D45EA-2907-285A-F074-0BE0F0CA2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99" y="952823"/>
            <a:ext cx="5347591" cy="198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1300" b="1">
                <a:solidFill>
                  <a:srgbClr val="FFFFFF"/>
                </a:solidFill>
                <a:latin typeface="Palatino Linotype" panose="02040502050505030304" pitchFamily="18" charset="0"/>
              </a:rPr>
              <a:t>JMeter Testing (pre &amp;post merge in dev-integration)</a:t>
            </a:r>
          </a:p>
        </p:txBody>
      </p:sp>
      <p:sp>
        <p:nvSpPr>
          <p:cNvPr id="7389" name="Rectangle 221">
            <a:extLst>
              <a:ext uri="{FF2B5EF4-FFF2-40B4-BE49-F238E27FC236}">
                <a16:creationId xmlns:a16="http://schemas.microsoft.com/office/drawing/2014/main" id="{3A6A2593-2CA5-BD0C-E1B6-A52C3042D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734" y="1243298"/>
            <a:ext cx="1695229" cy="192062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480" cap="flat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390" name="Rectangle 222">
            <a:extLst>
              <a:ext uri="{FF2B5EF4-FFF2-40B4-BE49-F238E27FC236}">
                <a16:creationId xmlns:a16="http://schemas.microsoft.com/office/drawing/2014/main" id="{788B8ED7-528B-5C26-0592-59B1B2C11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734" y="1270282"/>
            <a:ext cx="1695229" cy="138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en-US" sz="900" b="1">
                <a:solidFill>
                  <a:srgbClr val="FFFFFF"/>
                </a:solidFill>
                <a:latin typeface="Calibri" panose="020F0502020204030204" pitchFamily="34" charset="0"/>
              </a:rPr>
              <a:t>BEFORE Merge</a:t>
            </a:r>
          </a:p>
        </p:txBody>
      </p:sp>
      <p:sp>
        <p:nvSpPr>
          <p:cNvPr id="7391" name="Rectangle 223">
            <a:extLst>
              <a:ext uri="{FF2B5EF4-FFF2-40B4-BE49-F238E27FC236}">
                <a16:creationId xmlns:a16="http://schemas.microsoft.com/office/drawing/2014/main" id="{63357650-C846-C942-6186-DE1B2DB96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2963" y="1243298"/>
            <a:ext cx="1695229" cy="19206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480" cap="flat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392" name="Rectangle 224">
            <a:extLst>
              <a:ext uri="{FF2B5EF4-FFF2-40B4-BE49-F238E27FC236}">
                <a16:creationId xmlns:a16="http://schemas.microsoft.com/office/drawing/2014/main" id="{07D5AB60-2E59-D06A-69F4-405C72449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2963" y="1270282"/>
            <a:ext cx="1695229" cy="138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en-US" sz="900" b="1">
                <a:solidFill>
                  <a:srgbClr val="FFFFFF"/>
                </a:solidFill>
                <a:latin typeface="Calibri" panose="020F0502020204030204" pitchFamily="34" charset="0"/>
              </a:rPr>
              <a:t>POST Merge</a:t>
            </a:r>
          </a:p>
        </p:txBody>
      </p:sp>
      <p:sp>
        <p:nvSpPr>
          <p:cNvPr id="7393" name="Rectangle 225">
            <a:extLst>
              <a:ext uri="{FF2B5EF4-FFF2-40B4-BE49-F238E27FC236}">
                <a16:creationId xmlns:a16="http://schemas.microsoft.com/office/drawing/2014/main" id="{773433FA-1AE1-CEF0-A37C-3A12BF0ED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6475" y="1278219"/>
            <a:ext cx="2095227" cy="122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800" b="1">
                <a:solidFill>
                  <a:srgbClr val="44546A"/>
                </a:solidFill>
                <a:latin typeface="Calibri" panose="020F0502020204030204" pitchFamily="34" charset="0"/>
              </a:rPr>
              <a:t>(ms)</a:t>
            </a:r>
          </a:p>
        </p:txBody>
      </p:sp>
      <p:graphicFrame>
        <p:nvGraphicFramePr>
          <p:cNvPr id="7394" name="Group 226">
            <a:extLst>
              <a:ext uri="{FF2B5EF4-FFF2-40B4-BE49-F238E27FC236}">
                <a16:creationId xmlns:a16="http://schemas.microsoft.com/office/drawing/2014/main" id="{8FB9D2CC-40E1-0B81-D9D5-B150FF090C28}"/>
              </a:ext>
            </a:extLst>
          </p:cNvPr>
          <p:cNvGraphicFramePr>
            <a:graphicFrameLocks noGrp="1"/>
          </p:cNvGraphicFramePr>
          <p:nvPr/>
        </p:nvGraphicFramePr>
        <p:xfrm>
          <a:off x="6336475" y="1463931"/>
          <a:ext cx="5531716" cy="3771414"/>
        </p:xfrm>
        <a:graphic>
          <a:graphicData uri="http://schemas.openxmlformats.org/drawingml/2006/table">
            <a:tbl>
              <a:tblPr/>
              <a:tblGrid>
                <a:gridCol w="1776182">
                  <a:extLst>
                    <a:ext uri="{9D8B030D-6E8A-4147-A177-3AD203B41FA5}">
                      <a16:colId xmlns:a16="http://schemas.microsoft.com/office/drawing/2014/main" val="1972778865"/>
                    </a:ext>
                  </a:extLst>
                </a:gridCol>
                <a:gridCol w="363490">
                  <a:extLst>
                    <a:ext uri="{9D8B030D-6E8A-4147-A177-3AD203B41FA5}">
                      <a16:colId xmlns:a16="http://schemas.microsoft.com/office/drawing/2014/main" val="1344920510"/>
                    </a:ext>
                  </a:extLst>
                </a:gridCol>
                <a:gridCol w="565076">
                  <a:extLst>
                    <a:ext uri="{9D8B030D-6E8A-4147-A177-3AD203B41FA5}">
                      <a16:colId xmlns:a16="http://schemas.microsoft.com/office/drawing/2014/main" val="3969561960"/>
                    </a:ext>
                  </a:extLst>
                </a:gridCol>
                <a:gridCol w="566664">
                  <a:extLst>
                    <a:ext uri="{9D8B030D-6E8A-4147-A177-3AD203B41FA5}">
                      <a16:colId xmlns:a16="http://schemas.microsoft.com/office/drawing/2014/main" val="3456165551"/>
                    </a:ext>
                  </a:extLst>
                </a:gridCol>
                <a:gridCol w="565076">
                  <a:extLst>
                    <a:ext uri="{9D8B030D-6E8A-4147-A177-3AD203B41FA5}">
                      <a16:colId xmlns:a16="http://schemas.microsoft.com/office/drawing/2014/main" val="3275431141"/>
                    </a:ext>
                  </a:extLst>
                </a:gridCol>
                <a:gridCol w="565076">
                  <a:extLst>
                    <a:ext uri="{9D8B030D-6E8A-4147-A177-3AD203B41FA5}">
                      <a16:colId xmlns:a16="http://schemas.microsoft.com/office/drawing/2014/main" val="3065528390"/>
                    </a:ext>
                  </a:extLst>
                </a:gridCol>
                <a:gridCol w="565076">
                  <a:extLst>
                    <a:ext uri="{9D8B030D-6E8A-4147-A177-3AD203B41FA5}">
                      <a16:colId xmlns:a16="http://schemas.microsoft.com/office/drawing/2014/main" val="2038449863"/>
                    </a:ext>
                  </a:extLst>
                </a:gridCol>
                <a:gridCol w="565076">
                  <a:extLst>
                    <a:ext uri="{9D8B030D-6E8A-4147-A177-3AD203B41FA5}">
                      <a16:colId xmlns:a16="http://schemas.microsoft.com/office/drawing/2014/main" val="1352554363"/>
                    </a:ext>
                  </a:extLst>
                </a:gridCol>
              </a:tblGrid>
              <a:tr h="139682"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API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Users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Avg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P95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Max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Avg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P95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Max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05603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BHACaseDetails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456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830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930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354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394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718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89441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8,102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28,685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29,228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633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1,031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2,741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181116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DesignSummary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595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1,451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2,451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349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842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1,183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104632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10,705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48,895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51,345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511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1,035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1,689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817116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getcheckTemplateApplied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5,449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9,845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10,135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3,910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4,737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9,744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86176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28,377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73,480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76,671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13,845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16,245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178,790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566522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getCustomLoads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719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1,982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4,813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432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904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964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516947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12,995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73,281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78,169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774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1,373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2,083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23695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getStandardLoadTemperature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1,127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3,787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12,187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369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442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1,329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164509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15,850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53,082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54,955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671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1,230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1,596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739550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Load Design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6,897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10,434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16,168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1,175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2,482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6,366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464399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40,400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102,775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108,527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2,521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3,756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6,436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057636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v2/BHACaseDetails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581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2,394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2,424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427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482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1,023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565441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15,973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51,803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52,932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663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1,050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2,096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357240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createStandardLoads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455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924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924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405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513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1,404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219807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19,521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62,247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62,666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450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706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3,275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805700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defaultRowCalcData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638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1,798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1,827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366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973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1,484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103894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12,440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69,178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69,178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595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1,691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4,072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387174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saveCustomLoads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399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1,650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1,749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300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377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396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375732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14,006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53,850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54,293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346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839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1,780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774261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SaveDesign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747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4,255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4,487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347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409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1,186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668918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22,780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138,942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148,400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486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1,638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2,997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550195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saveStandardLoadTemperatureProfile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489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2,300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2,453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359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422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983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007771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13,505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84,190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85,399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396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655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2,873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826288"/>
                  </a:ext>
                </a:extLst>
              </a:tr>
              <a:tr h="139682">
                <a:tc rowSpan="2"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44546A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createDefinitiveSurveys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26,437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37,296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37,322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5,902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8,479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11,341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305238"/>
                  </a:ext>
                </a:extLst>
              </a:tr>
              <a:tr h="139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1" u="none" strike="noStrike" cap="none" normalizeH="0" baseline="0">
                          <a:ln>
                            <a:noFill/>
                          </a:ln>
                          <a:solidFill>
                            <a:srgbClr val="5B626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75,602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147,476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147,476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22,618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41,698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1pPr>
                      <a:lvl2pPr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2pPr>
                      <a:lvl3pPr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3pPr>
                      <a:lvl4pPr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4pPr>
                      <a:lvl5pPr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5pPr>
                      <a:lvl6pPr marL="25146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6pPr>
                      <a:lvl7pPr marL="29718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7pPr>
                      <a:lvl8pPr marL="34290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8pPr>
                      <a:lvl9pPr marL="3886200" indent="-228600" fontAlgn="base" hangingPunct="0">
                        <a:lnSpc>
                          <a:spcPct val="93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2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</a:tabLst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1E8449"/>
                          </a:solidFill>
                          <a:effectLst/>
                          <a:latin typeface="Calibri" panose="020F0502020204030204" pitchFamily="34" charset="0"/>
                          <a:cs typeface="Noto Sans CJK SC" charset="0"/>
                        </a:rPr>
                        <a:t>50,255</a:t>
                      </a:r>
                    </a:p>
                  </a:txBody>
                  <a:tcPr marL="36355" marR="36355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275638"/>
                  </a:ext>
                </a:extLst>
              </a:tr>
            </a:tbl>
          </a:graphicData>
        </a:graphic>
      </p:graphicFrame>
      <p:sp>
        <p:nvSpPr>
          <p:cNvPr id="7598" name="Rectangle 430">
            <a:extLst>
              <a:ext uri="{FF2B5EF4-FFF2-40B4-BE49-F238E27FC236}">
                <a16:creationId xmlns:a16="http://schemas.microsoft.com/office/drawing/2014/main" id="{2E450E55-2536-0E28-CC2C-1475A711A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6475" y="5279784"/>
            <a:ext cx="5531718" cy="123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800" i="1">
                <a:solidFill>
                  <a:srgbClr val="5B626B"/>
                </a:solidFill>
                <a:latin typeface="Calibri" panose="020F0502020204030204" pitchFamily="34" charset="0"/>
              </a:rPr>
              <a:t>Errors @5U: SaveDesign 1 → 0, saveStandardLoadTemperatureProfile 1 → 0, createDefinitiveSurveys 3 → 1. Others: 0.</a:t>
            </a:r>
          </a:p>
        </p:txBody>
      </p:sp>
      <p:sp>
        <p:nvSpPr>
          <p:cNvPr id="7599" name="Rectangle 431">
            <a:extLst>
              <a:ext uri="{FF2B5EF4-FFF2-40B4-BE49-F238E27FC236}">
                <a16:creationId xmlns:a16="http://schemas.microsoft.com/office/drawing/2014/main" id="{C08F0948-7729-91B6-06EF-E1EAD47AF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33" y="5486133"/>
            <a:ext cx="11518988" cy="804758"/>
          </a:xfrm>
          <a:prstGeom prst="rect">
            <a:avLst/>
          </a:prstGeom>
          <a:solidFill>
            <a:srgbClr val="0251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480" cap="flat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600" name="Rectangle 432">
            <a:extLst>
              <a:ext uri="{FF2B5EF4-FFF2-40B4-BE49-F238E27FC236}">
                <a16:creationId xmlns:a16="http://schemas.microsoft.com/office/drawing/2014/main" id="{C2FE756A-2DE4-F033-34D1-EDE257871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172" y="5540100"/>
            <a:ext cx="1828562" cy="198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1300" b="1">
                <a:solidFill>
                  <a:srgbClr val="E5DC00"/>
                </a:solidFill>
                <a:latin typeface="Calibri" panose="020F0502020204030204" pitchFamily="34" charset="0"/>
              </a:rPr>
              <a:t>Key Results</a:t>
            </a:r>
          </a:p>
        </p:txBody>
      </p:sp>
      <p:sp>
        <p:nvSpPr>
          <p:cNvPr id="7601" name="Rectangle 433">
            <a:extLst>
              <a:ext uri="{FF2B5EF4-FFF2-40B4-BE49-F238E27FC236}">
                <a16:creationId xmlns:a16="http://schemas.microsoft.com/office/drawing/2014/main" id="{6826AC33-77B6-EEA5-1868-ECE275F65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5833750"/>
            <a:ext cx="963405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en-US" sz="1700" b="1">
                <a:solidFill>
                  <a:srgbClr val="27AE60"/>
                </a:solidFill>
                <a:latin typeface="Calibri" panose="020F0502020204030204" pitchFamily="34" charset="0"/>
              </a:rPr>
              <a:t>64% | 84%</a:t>
            </a:r>
          </a:p>
        </p:txBody>
      </p:sp>
      <p:sp>
        <p:nvSpPr>
          <p:cNvPr id="7602" name="Rectangle 434">
            <a:extLst>
              <a:ext uri="{FF2B5EF4-FFF2-40B4-BE49-F238E27FC236}">
                <a16:creationId xmlns:a16="http://schemas.microsoft.com/office/drawing/2014/main" id="{AC5CAC48-1A0C-AD0F-0400-EBEE4D04F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0" y="5870258"/>
            <a:ext cx="111760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800">
                <a:solidFill>
                  <a:srgbClr val="FFFFFF"/>
                </a:solidFill>
                <a:latin typeface="Calibri" panose="020F0502020204030204" pitchFamily="34" charset="0"/>
              </a:rPr>
              <a:t>Avg Reduction (1U | 5U)</a:t>
            </a:r>
          </a:p>
          <a:p>
            <a:pPr>
              <a:lnSpc>
                <a:spcPct val="100000"/>
              </a:lnSpc>
            </a:pPr>
            <a:r>
              <a:rPr lang="en-US" altLang="en-US" sz="800">
                <a:solidFill>
                  <a:srgbClr val="FFFFFF"/>
                </a:solidFill>
                <a:latin typeface="Calibri" panose="020F0502020204030204" pitchFamily="34" charset="0"/>
              </a:rPr>
              <a:t>Dev-int → Feature</a:t>
            </a:r>
          </a:p>
        </p:txBody>
      </p:sp>
      <p:sp>
        <p:nvSpPr>
          <p:cNvPr id="7603" name="Rectangle 435">
            <a:extLst>
              <a:ext uri="{FF2B5EF4-FFF2-40B4-BE49-F238E27FC236}">
                <a16:creationId xmlns:a16="http://schemas.microsoft.com/office/drawing/2014/main" id="{4912AE40-FBFC-8A49-A0D8-6E853C6ED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833750"/>
            <a:ext cx="963405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en-US" sz="1700" b="1">
                <a:solidFill>
                  <a:srgbClr val="27AE60"/>
                </a:solidFill>
                <a:latin typeface="Calibri" panose="020F0502020204030204" pitchFamily="34" charset="0"/>
              </a:rPr>
              <a:t>59% | 92%</a:t>
            </a:r>
          </a:p>
        </p:txBody>
      </p:sp>
      <p:sp>
        <p:nvSpPr>
          <p:cNvPr id="7604" name="Rectangle 436">
            <a:extLst>
              <a:ext uri="{FF2B5EF4-FFF2-40B4-BE49-F238E27FC236}">
                <a16:creationId xmlns:a16="http://schemas.microsoft.com/office/drawing/2014/main" id="{C089C194-C113-33CF-D75A-E6B9BD227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5870258"/>
            <a:ext cx="111760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800">
                <a:solidFill>
                  <a:srgbClr val="FFFFFF"/>
                </a:solidFill>
                <a:latin typeface="Calibri" panose="020F0502020204030204" pitchFamily="34" charset="0"/>
              </a:rPr>
              <a:t>P95 Reduction (1U | 5U)</a:t>
            </a:r>
          </a:p>
          <a:p>
            <a:pPr>
              <a:lnSpc>
                <a:spcPct val="100000"/>
              </a:lnSpc>
            </a:pPr>
            <a:r>
              <a:rPr lang="en-US" altLang="en-US" sz="800">
                <a:solidFill>
                  <a:srgbClr val="FFFFFF"/>
                </a:solidFill>
                <a:latin typeface="Calibri" panose="020F0502020204030204" pitchFamily="34" charset="0"/>
              </a:rPr>
              <a:t>Dev-int → Feature</a:t>
            </a:r>
          </a:p>
        </p:txBody>
      </p:sp>
      <p:sp>
        <p:nvSpPr>
          <p:cNvPr id="7605" name="Rectangle 437">
            <a:extLst>
              <a:ext uri="{FF2B5EF4-FFF2-40B4-BE49-F238E27FC236}">
                <a16:creationId xmlns:a16="http://schemas.microsoft.com/office/drawing/2014/main" id="{04D41D12-5524-DDCE-9B51-0154884A0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0800" y="5833750"/>
            <a:ext cx="963405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en-US" sz="1700" b="1">
                <a:solidFill>
                  <a:srgbClr val="27AE60"/>
                </a:solidFill>
                <a:latin typeface="Calibri" panose="020F0502020204030204" pitchFamily="34" charset="0"/>
              </a:rPr>
              <a:t>67% | 85%</a:t>
            </a:r>
          </a:p>
        </p:txBody>
      </p:sp>
      <p:sp>
        <p:nvSpPr>
          <p:cNvPr id="7606" name="Rectangle 438">
            <a:extLst>
              <a:ext uri="{FF2B5EF4-FFF2-40B4-BE49-F238E27FC236}">
                <a16:creationId xmlns:a16="http://schemas.microsoft.com/office/drawing/2014/main" id="{D32FB483-041D-9802-3834-1D1149011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3800" y="5870258"/>
            <a:ext cx="111760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800">
                <a:solidFill>
                  <a:srgbClr val="FFFFFF"/>
                </a:solidFill>
                <a:latin typeface="Calibri" panose="020F0502020204030204" pitchFamily="34" charset="0"/>
              </a:rPr>
              <a:t>Avg Reduction (1U | 5U)</a:t>
            </a:r>
          </a:p>
          <a:p>
            <a:pPr>
              <a:lnSpc>
                <a:spcPct val="100000"/>
              </a:lnSpc>
            </a:pPr>
            <a:r>
              <a:rPr lang="en-US" altLang="en-US" sz="800">
                <a:solidFill>
                  <a:srgbClr val="FFFFFF"/>
                </a:solidFill>
                <a:latin typeface="Calibri" panose="020F0502020204030204" pitchFamily="34" charset="0"/>
              </a:rPr>
              <a:t>Pre → Post Merge</a:t>
            </a:r>
          </a:p>
        </p:txBody>
      </p:sp>
      <p:sp>
        <p:nvSpPr>
          <p:cNvPr id="7607" name="Rectangle 439">
            <a:extLst>
              <a:ext uri="{FF2B5EF4-FFF2-40B4-BE49-F238E27FC236}">
                <a16:creationId xmlns:a16="http://schemas.microsoft.com/office/drawing/2014/main" id="{0719BD07-34D1-8F52-4915-82F6E2413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2200" y="5833750"/>
            <a:ext cx="963405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en-US" sz="1700" b="1">
                <a:solidFill>
                  <a:srgbClr val="27AE60"/>
                </a:solidFill>
                <a:latin typeface="Calibri" panose="020F0502020204030204" pitchFamily="34" charset="0"/>
              </a:rPr>
              <a:t>73% | 93%</a:t>
            </a:r>
          </a:p>
        </p:txBody>
      </p:sp>
      <p:sp>
        <p:nvSpPr>
          <p:cNvPr id="7608" name="Rectangle 440">
            <a:extLst>
              <a:ext uri="{FF2B5EF4-FFF2-40B4-BE49-F238E27FC236}">
                <a16:creationId xmlns:a16="http://schemas.microsoft.com/office/drawing/2014/main" id="{A53B03FD-4277-6297-9629-55061FD30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5200" y="5870258"/>
            <a:ext cx="111760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800">
                <a:solidFill>
                  <a:srgbClr val="FFFFFF"/>
                </a:solidFill>
                <a:latin typeface="Calibri" panose="020F0502020204030204" pitchFamily="34" charset="0"/>
              </a:rPr>
              <a:t>P95 Reduction (1U | 5U)</a:t>
            </a:r>
          </a:p>
          <a:p>
            <a:pPr>
              <a:lnSpc>
                <a:spcPct val="100000"/>
              </a:lnSpc>
            </a:pPr>
            <a:r>
              <a:rPr lang="en-US" altLang="en-US" sz="800">
                <a:solidFill>
                  <a:srgbClr val="FFFFFF"/>
                </a:solidFill>
                <a:latin typeface="Calibri" panose="020F0502020204030204" pitchFamily="34" charset="0"/>
              </a:rPr>
              <a:t>Pre → Post Merge</a:t>
            </a:r>
          </a:p>
        </p:txBody>
      </p:sp>
      <p:sp>
        <p:nvSpPr>
          <p:cNvPr id="7609" name="Rectangle 441">
            <a:extLst>
              <a:ext uri="{FF2B5EF4-FFF2-40B4-BE49-F238E27FC236}">
                <a16:creationId xmlns:a16="http://schemas.microsoft.com/office/drawing/2014/main" id="{D7D3FED8-8312-243D-7C8E-89C3D70A8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600" y="5833750"/>
            <a:ext cx="37991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en-US" sz="1700" b="1">
                <a:solidFill>
                  <a:srgbClr val="27AE60"/>
                </a:solidFill>
                <a:latin typeface="Calibri" panose="020F0502020204030204" pitchFamily="34" charset="0"/>
              </a:rPr>
              <a:t>80%</a:t>
            </a:r>
          </a:p>
        </p:txBody>
      </p:sp>
      <p:sp>
        <p:nvSpPr>
          <p:cNvPr id="7610" name="Rectangle 442">
            <a:extLst>
              <a:ext uri="{FF2B5EF4-FFF2-40B4-BE49-F238E27FC236}">
                <a16:creationId xmlns:a16="http://schemas.microsoft.com/office/drawing/2014/main" id="{D6C68DD3-F4F9-2DD4-92DA-8A395AC79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7800" y="5870258"/>
            <a:ext cx="111760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800">
                <a:solidFill>
                  <a:srgbClr val="FFFFFF"/>
                </a:solidFill>
                <a:latin typeface="Calibri" panose="020F0502020204030204" pitchFamily="34" charset="0"/>
              </a:rPr>
              <a:t>Error Reduction (5U)</a:t>
            </a:r>
          </a:p>
          <a:p>
            <a:pPr>
              <a:lnSpc>
                <a:spcPct val="100000"/>
              </a:lnSpc>
            </a:pPr>
            <a:r>
              <a:rPr lang="en-US" altLang="en-US" sz="800">
                <a:solidFill>
                  <a:srgbClr val="FFFFFF"/>
                </a:solidFill>
                <a:latin typeface="Calibri" panose="020F0502020204030204" pitchFamily="34" charset="0"/>
              </a:rPr>
              <a:t>Pre → Post Merge (5 → 1)</a:t>
            </a:r>
          </a:p>
        </p:txBody>
      </p:sp>
      <p:sp>
        <p:nvSpPr>
          <p:cNvPr id="7613" name="Rectangle 445">
            <a:extLst>
              <a:ext uri="{FF2B5EF4-FFF2-40B4-BE49-F238E27FC236}">
                <a16:creationId xmlns:a16="http://schemas.microsoft.com/office/drawing/2014/main" id="{56587515-1678-6DA1-D8E7-946D18BEE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477"/>
            <a:ext cx="12190413" cy="365077"/>
          </a:xfrm>
          <a:prstGeom prst="rect">
            <a:avLst/>
          </a:prstGeom>
          <a:solidFill>
            <a:srgbClr val="0251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480" cap="flat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614" name="Rectangle 446">
            <a:extLst>
              <a:ext uri="{FF2B5EF4-FFF2-40B4-BE49-F238E27FC236}">
                <a16:creationId xmlns:a16="http://schemas.microsoft.com/office/drawing/2014/main" id="{1A80156C-BD6B-74F0-F318-A09AB886C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40" y="6582952"/>
            <a:ext cx="6399967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1000" i="1">
                <a:solidFill>
                  <a:srgbClr val="BFE0E0"/>
                </a:solidFill>
                <a:latin typeface="Palatino Linotype" panose="02040502050505030304" pitchFamily="18" charset="0"/>
              </a:rPr>
              <a:t>Halliburton × Psiog  |  Performance Engineering</a:t>
            </a:r>
          </a:p>
        </p:txBody>
      </p:sp>
      <p:sp>
        <p:nvSpPr>
          <p:cNvPr id="7615" name="Rectangle 447">
            <a:extLst>
              <a:ext uri="{FF2B5EF4-FFF2-40B4-BE49-F238E27FC236}">
                <a16:creationId xmlns:a16="http://schemas.microsoft.com/office/drawing/2014/main" id="{A539EFF4-0832-BA1C-7B08-3BD3605BE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8528" y="6582952"/>
            <a:ext cx="3474586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altLang="en-US" sz="1000" b="1">
                <a:solidFill>
                  <a:srgbClr val="BFE0E0"/>
                </a:solidFill>
                <a:latin typeface="Palatino Linotype" panose="02040502050505030304" pitchFamily="18" charset="0"/>
              </a:rPr>
              <a:t>Fix 1.2 — Performance Summary</a:t>
            </a:r>
          </a:p>
        </p:txBody>
      </p:sp>
    </p:spTree>
    <p:extLst>
      <p:ext uri="{BB962C8B-B14F-4D97-AF65-F5344CB8AC3E}">
        <p14:creationId xmlns:p14="http://schemas.microsoft.com/office/powerpoint/2010/main" val="145416819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4.4 — Performance Summary</a:t>
            </a:r>
            <a:endParaRPr lang="en-US" sz="2400"/>
          </a:p>
        </p:txBody>
      </p:sp>
      <p:sp>
        <p:nvSpPr>
          <p:cNvPr id="4" name="Text 2"/>
          <p:cNvSpPr txBox="1"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vs Feature · 4 APIs · 1 User &amp; 5 Concurrent Users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9692640" y="18288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92640" y="182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4.4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ea typeface="Calibri"/>
                <a:cs typeface="Calibri"/>
              </a:rPr>
              <a:t>Redis</a:t>
            </a:r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Halliburton x Paigo | Performance Engineering</a:t>
            </a:r>
            <a:endParaRPr lang="en-US" sz="900"/>
          </a:p>
        </p:txBody>
      </p:sp>
      <p:sp>
        <p:nvSpPr>
          <p:cNvPr id="9" name="Text 7"/>
          <p:cNvSpPr txBox="1"/>
          <p:nvPr/>
        </p:nvSpPr>
        <p:spPr>
          <a:xfrm>
            <a:off x="6400800" y="6492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4.4 — Performance Summary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1527048" y="1234440"/>
            <a:ext cx="914400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23239" y="1246346"/>
            <a:ext cx="9139712" cy="42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JMeter Testing (Tiger vs Feature)</a:t>
            </a:r>
            <a:endParaRPr lang="en-US" sz="1500"/>
          </a:p>
        </p:txBody>
      </p:sp>
      <p:sp>
        <p:nvSpPr>
          <p:cNvPr id="12" name="Text 10"/>
          <p:cNvSpPr txBox="1"/>
          <p:nvPr/>
        </p:nvSpPr>
        <p:spPr>
          <a:xfrm>
            <a:off x="1527048" y="1691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(ms)</a:t>
            </a:r>
            <a:endParaRPr lang="en-US" sz="90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711327"/>
              </p:ext>
            </p:extLst>
          </p:nvPr>
        </p:nvGraphicFramePr>
        <p:xfrm>
          <a:off x="416718" y="2024062"/>
          <a:ext cx="11383703" cy="3546980"/>
        </p:xfrm>
        <a:graphic>
          <a:graphicData uri="http://schemas.openxmlformats.org/drawingml/2006/table">
            <a:tbl>
              <a:tblPr/>
              <a:tblGrid>
                <a:gridCol w="341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54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54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54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54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54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4698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43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B35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98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01 - getPrimaryDesignStatus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9,192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11,241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11,569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2,232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4,982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5,130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6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21,484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26,013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26,213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7,764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9,315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9,928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98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02 - getDesignStatusByWellboreId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10,508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10,619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8,568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10,071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10,144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6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20,972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24,895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26,718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20,633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24,127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25,888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698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03 - getMilestoneTaskCount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3,316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5,208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6,042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2,896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3,880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4,821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6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6,453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7,626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13,347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6,495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7,520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7,852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698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04 - getWellboreMilestoneTaskCount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1,634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1,329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3,071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6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1,183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1,869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2,230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1,111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1,922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1527048" y="56235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vs Feature error data not available for these endpoints.</a:t>
            </a:r>
            <a:endParaRPr lang="en-US" sz="900"/>
          </a:p>
        </p:txBody>
      </p:sp>
      <p:sp>
        <p:nvSpPr>
          <p:cNvPr id="15" name="Shape 12"/>
          <p:cNvSpPr/>
          <p:nvPr/>
        </p:nvSpPr>
        <p:spPr>
          <a:xfrm>
            <a:off x="0" y="5943600"/>
            <a:ext cx="12188952" cy="548640"/>
          </a:xfrm>
          <a:prstGeom prst="rect">
            <a:avLst/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5760" y="5943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</a:t>
            </a:r>
            <a:endParaRPr lang="en-US" sz="1400"/>
          </a:p>
        </p:txBody>
      </p:sp>
      <p:sp>
        <p:nvSpPr>
          <p:cNvPr id="17" name="Text 14"/>
          <p:cNvSpPr txBox="1"/>
          <p:nvPr/>
        </p:nvSpPr>
        <p:spPr>
          <a:xfrm>
            <a:off x="3017520" y="596188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 | 18%</a:t>
            </a:r>
            <a:endParaRPr lang="en-US" sz="1700"/>
          </a:p>
        </p:txBody>
      </p:sp>
      <p:sp>
        <p:nvSpPr>
          <p:cNvPr id="18" name="Text 15"/>
          <p:cNvSpPr txBox="1"/>
          <p:nvPr/>
        </p:nvSpPr>
        <p:spPr>
          <a:xfrm>
            <a:off x="4617720" y="596188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Reduction (1U | 5U)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E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→ Feature</a:t>
            </a:r>
            <a:endParaRPr lang="en-US" sz="900"/>
          </a:p>
        </p:txBody>
      </p:sp>
      <p:sp>
        <p:nvSpPr>
          <p:cNvPr id="19" name="Text 16"/>
          <p:cNvSpPr txBox="1"/>
          <p:nvPr/>
        </p:nvSpPr>
        <p:spPr>
          <a:xfrm>
            <a:off x="7132320" y="596188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 | 21%</a:t>
            </a:r>
            <a:endParaRPr lang="en-US" sz="1700"/>
          </a:p>
        </p:txBody>
      </p:sp>
      <p:sp>
        <p:nvSpPr>
          <p:cNvPr id="20" name="Text 17"/>
          <p:cNvSpPr txBox="1"/>
          <p:nvPr/>
        </p:nvSpPr>
        <p:spPr>
          <a:xfrm>
            <a:off x="8732520" y="596188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Reduction (1U | 5U)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E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→ Feature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25BBFA-AE96-4532-9A87-973E912E0FEC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a35e1ad-75d2-4c65-bd95-bc5a7015bf9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402D3B85D7074C88F0A3702DD6CB61" ma:contentTypeVersion="10" ma:contentTypeDescription="Create a new document." ma:contentTypeScope="" ma:versionID="036f00bf24d0c408dc74bf22d9408aa3">
  <xsd:schema xmlns:xsd="http://www.w3.org/2001/XMLSchema" xmlns:xs="http://www.w3.org/2001/XMLSchema" xmlns:p="http://schemas.microsoft.com/office/2006/metadata/properties" xmlns:ns2="a030c4d9-c6f3-43ff-bfb3-f1d4ace4e19c" xmlns:ns3="bbdf2710-f0d4-4c96-8e34-6300337cbbf3" targetNamespace="http://schemas.microsoft.com/office/2006/metadata/properties" ma:root="true" ma:fieldsID="04954737088c61838a662b5d69c10fbb" ns2:_="" ns3:_="">
    <xsd:import namespace="a030c4d9-c6f3-43ff-bfb3-f1d4ace4e19c"/>
    <xsd:import namespace="bbdf2710-f0d4-4c96-8e34-6300337cbb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30c4d9-c6f3-43ff-bfb3-f1d4ace4e1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c956235-d1d6-4f17-ae7d-6546284d964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df2710-f0d4-4c96-8e34-6300337cbbf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532e092-6b27-4ffc-b383-130dd6982c41}" ma:internalName="TaxCatchAll" ma:showField="CatchAllData" ma:web="bbdf2710-f0d4-4c96-8e34-6300337cbb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030c4d9-c6f3-43ff-bfb3-f1d4ace4e19c">
      <Terms xmlns="http://schemas.microsoft.com/office/infopath/2007/PartnerControls"/>
    </lcf76f155ced4ddcb4097134ff3c332f>
    <TaxCatchAll xmlns="bbdf2710-f0d4-4c96-8e34-6300337cbbf3" xsi:nil="true"/>
  </documentManagement>
</p:properties>
</file>

<file path=customXml/itemProps1.xml><?xml version="1.0" encoding="utf-8"?>
<ds:datastoreItem xmlns:ds="http://schemas.openxmlformats.org/officeDocument/2006/customXml" ds:itemID="{1DD68ED2-3F3D-4BFC-9A66-FB897FC3EE69}">
  <ds:schemaRefs>
    <ds:schemaRef ds:uri="a030c4d9-c6f3-43ff-bfb3-f1d4ace4e19c"/>
    <ds:schemaRef ds:uri="bbdf2710-f0d4-4c96-8e34-6300337cbbf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DD498C1-6180-4F29-BD44-5C8194FBF0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088AB1-C48C-480E-8209-B633BBAA1DEC}">
  <ds:schemaRefs>
    <ds:schemaRef ds:uri="a030c4d9-c6f3-43ff-bfb3-f1d4ace4e19c"/>
    <ds:schemaRef ds:uri="bbdf2710-f0d4-4c96-8e34-6300337cbbf3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5</cp:revision>
  <dcterms:created xsi:type="dcterms:W3CDTF">2013-01-27T09:14:16Z</dcterms:created>
  <dcterms:modified xsi:type="dcterms:W3CDTF">2026-10-06T12:38:03Z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0x0101000B402D3B85D7074C88F0A3702DD6CB61</vt:lpwstr>
  </property>
  <property fmtid="{D5CDD505-2E9C-101B-9397-08002B2CF9AE}" pid="3" name="MediaServiceImageTags">
    <vt:lpwstr/>
  </property>
</Properties>
</file>